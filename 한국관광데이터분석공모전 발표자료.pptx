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93" r:id="rId5"/>
    <p:sldId id="292" r:id="rId6"/>
    <p:sldId id="259" r:id="rId7"/>
    <p:sldId id="290" r:id="rId8"/>
    <p:sldId id="271" r:id="rId9"/>
    <p:sldId id="265" r:id="rId10"/>
    <p:sldId id="267" r:id="rId11"/>
    <p:sldId id="274" r:id="rId12"/>
    <p:sldId id="272" r:id="rId13"/>
    <p:sldId id="275" r:id="rId14"/>
    <p:sldId id="276" r:id="rId15"/>
    <p:sldId id="278" r:id="rId16"/>
    <p:sldId id="277" r:id="rId17"/>
    <p:sldId id="282" r:id="rId18"/>
    <p:sldId id="279" r:id="rId19"/>
    <p:sldId id="281" r:id="rId20"/>
    <p:sldId id="283" r:id="rId21"/>
    <p:sldId id="295" r:id="rId22"/>
    <p:sldId id="297" r:id="rId23"/>
    <p:sldId id="286" r:id="rId24"/>
    <p:sldId id="287" r:id="rId25"/>
    <p:sldId id="300" r:id="rId26"/>
    <p:sldId id="301" r:id="rId27"/>
    <p:sldId id="298" r:id="rId28"/>
    <p:sldId id="261" r:id="rId29"/>
  </p:sldIdLst>
  <p:sldSz cx="12192000" cy="6858000"/>
  <p:notesSz cx="6858000" cy="9144000"/>
  <p:embeddedFontLst>
    <p:embeddedFont>
      <p:font typeface="KoPubWorld돋움체 Bold" panose="020B0600000101010101" charset="-127"/>
      <p:bold r:id="rId31"/>
    </p:embeddedFont>
    <p:embeddedFont>
      <p:font typeface="KoPubWorld돋움체 Light" panose="020B0600000101010101" charset="-127"/>
      <p:regular r:id="rId32"/>
    </p:embeddedFont>
    <p:embeddedFont>
      <p:font typeface="KoPubWorld돋움체 Medium" panose="020B0600000101010101" charset="-127"/>
      <p:regular r:id="rId33"/>
    </p:embeddedFont>
    <p:embeddedFont>
      <p:font typeface="맑은 고딕" panose="020B0503020000020004" pitchFamily="50" charset="-127"/>
      <p:regular r:id="rId34"/>
      <p:bold r:id="rId3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5E5"/>
    <a:srgbClr val="FFCDCD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50" autoAdjust="0"/>
    <p:restoredTop sz="91154" autoAdjust="0"/>
  </p:normalViewPr>
  <p:slideViewPr>
    <p:cSldViewPr snapToGrid="0">
      <p:cViewPr varScale="1">
        <p:scale>
          <a:sx n="75" d="100"/>
          <a:sy n="75" d="100"/>
        </p:scale>
        <p:origin x="126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1D328C-018B-4BF9-8B06-85B9B46A9EB7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81956-A5DB-413B-A7CC-AD9AE8F6F5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151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342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좌</a:t>
            </a:r>
            <a:r>
              <a:rPr lang="en-US" altLang="ko-KR" dirty="0"/>
              <a:t>) </a:t>
            </a:r>
            <a:r>
              <a:rPr lang="ko-KR" altLang="en-US" dirty="0"/>
              <a:t>소비자 물가지수 </a:t>
            </a:r>
            <a:r>
              <a:rPr lang="en-US" altLang="ko-KR" dirty="0"/>
              <a:t>: </a:t>
            </a:r>
            <a:r>
              <a:rPr lang="ko-KR" altLang="en-US" dirty="0"/>
              <a:t>일상생활을 위해 구입하는 상품과 서비스의 평균적인 가격변동을 측정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우</a:t>
            </a:r>
            <a:r>
              <a:rPr lang="en-US" altLang="ko-KR" dirty="0"/>
              <a:t>)</a:t>
            </a:r>
            <a:r>
              <a:rPr lang="ko-KR" altLang="en-US" dirty="0"/>
              <a:t> 출처 </a:t>
            </a:r>
            <a:r>
              <a:rPr lang="en-US" altLang="ko-KR" dirty="0"/>
              <a:t>: https://www.consumerinsight.co.kr/leisure-travel/r_Newsview?no=3425&amp;PageNo=2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74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왼 </a:t>
            </a:r>
            <a:r>
              <a:rPr lang="en-US" altLang="ko-KR" dirty="0"/>
              <a:t>: https://www.traveltimes.co.kr/news/articleView.html?idxno=405452</a:t>
            </a:r>
          </a:p>
          <a:p>
            <a:r>
              <a:rPr lang="ko-KR" altLang="en-US" dirty="0"/>
              <a:t>오 </a:t>
            </a:r>
            <a:r>
              <a:rPr lang="en-US" altLang="ko-KR" dirty="0"/>
              <a:t>: https://channelpnu.pusan.ac.kr/news/articleView.html?idxno=34047</a:t>
            </a:r>
          </a:p>
          <a:p>
            <a:r>
              <a:rPr lang="ko-KR" altLang="en-US" dirty="0"/>
              <a:t>비활성화 지역은 관광을 유도하려고 하는 반면</a:t>
            </a:r>
            <a:r>
              <a:rPr lang="en-US" altLang="ko-KR" dirty="0"/>
              <a:t>, </a:t>
            </a:r>
            <a:r>
              <a:rPr lang="ko-KR" altLang="en-US" dirty="0"/>
              <a:t>이미 관광이 활성화된 인기 관광지들은 </a:t>
            </a:r>
            <a:r>
              <a:rPr lang="ko-KR" altLang="en-US" dirty="0" err="1"/>
              <a:t>오버투어리즘</a:t>
            </a:r>
            <a:r>
              <a:rPr lang="en-US" altLang="ko-KR" dirty="0"/>
              <a:t>, </a:t>
            </a:r>
            <a:r>
              <a:rPr lang="ko-KR" altLang="en-US" dirty="0"/>
              <a:t>과잉관광으로 인한 문제점이 발생하고 있음 </a:t>
            </a:r>
            <a:r>
              <a:rPr lang="en-US" altLang="ko-KR" dirty="0"/>
              <a:t>-&gt; </a:t>
            </a:r>
            <a:r>
              <a:rPr lang="ko-KR" altLang="en-US" dirty="0"/>
              <a:t>관광의 불균형을 해소하는 방법이 필요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604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186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관광 발전이 필요한 지역과 관광 활성화 잠재력이 높은 지역을 파악하여 관광 발전의 우선순위가 높은 지역을 파악한다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684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공간 군집분석을 통해 </a:t>
            </a:r>
            <a:r>
              <a:rPr lang="ko-KR" altLang="en-US" dirty="0" err="1"/>
              <a:t>콜드스팟</a:t>
            </a:r>
            <a:r>
              <a:rPr lang="en-US" altLang="ko-KR" dirty="0"/>
              <a:t>&amp;</a:t>
            </a:r>
            <a:r>
              <a:rPr lang="ko-KR" altLang="en-US" dirty="0"/>
              <a:t>핫스팟 도출 </a:t>
            </a:r>
            <a:r>
              <a:rPr lang="en-US" altLang="ko-KR" dirty="0"/>
              <a:t>-&gt; </a:t>
            </a:r>
            <a:r>
              <a:rPr lang="ko-KR" altLang="en-US" dirty="0"/>
              <a:t>국민여행조사 데이터 </a:t>
            </a:r>
            <a:r>
              <a:rPr lang="ko-KR" altLang="en-US" dirty="0" err="1"/>
              <a:t>전처리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분류분석을 위한 추가 </a:t>
            </a:r>
            <a:r>
              <a:rPr lang="ko-KR" altLang="en-US" dirty="0" err="1"/>
              <a:t>전처리</a:t>
            </a:r>
            <a:r>
              <a:rPr lang="ko-KR" altLang="en-US" dirty="0"/>
              <a:t> 후 분류 분석 실시</a:t>
            </a:r>
            <a:r>
              <a:rPr lang="en-US" altLang="ko-KR" dirty="0"/>
              <a:t> -&gt; </a:t>
            </a:r>
            <a:r>
              <a:rPr lang="ko-KR" altLang="en-US" dirty="0" err="1"/>
              <a:t>공간군집분석과</a:t>
            </a:r>
            <a:r>
              <a:rPr lang="ko-KR" altLang="en-US" dirty="0"/>
              <a:t> 결합</a:t>
            </a:r>
            <a:r>
              <a:rPr lang="en-US" altLang="ko-KR" dirty="0"/>
              <a:t>?</a:t>
            </a:r>
            <a:r>
              <a:rPr lang="ko-KR" altLang="en-US" dirty="0"/>
              <a:t>해 잠재적 관광 활성화 지역 선정</a:t>
            </a:r>
            <a:r>
              <a:rPr lang="en-US" altLang="ko-KR" dirty="0"/>
              <a:t> -&gt; EDA</a:t>
            </a:r>
            <a:r>
              <a:rPr lang="ko-KR" altLang="en-US" dirty="0"/>
              <a:t>를 통해 맞춤형 전략 제시 </a:t>
            </a:r>
            <a:r>
              <a:rPr lang="en-US" altLang="ko-KR" dirty="0"/>
              <a:t>-&gt; </a:t>
            </a:r>
            <a:r>
              <a:rPr lang="ko-KR" altLang="en-US" dirty="0"/>
              <a:t>잠재적 관광 활성화 지역 대상으로 회귀분석 실시 </a:t>
            </a:r>
            <a:r>
              <a:rPr lang="en-US" altLang="ko-KR" dirty="0"/>
              <a:t>-&gt; </a:t>
            </a:r>
            <a:r>
              <a:rPr lang="ko-KR" altLang="en-US" dirty="0"/>
              <a:t>데이터 추가 </a:t>
            </a:r>
            <a:r>
              <a:rPr lang="ko-KR" altLang="en-US" dirty="0" err="1"/>
              <a:t>전처리</a:t>
            </a:r>
            <a:r>
              <a:rPr lang="en-US" altLang="ko-KR" dirty="0"/>
              <a:t>, </a:t>
            </a:r>
            <a:r>
              <a:rPr lang="ko-KR" altLang="en-US" dirty="0"/>
              <a:t>회귀분석 사용 </a:t>
            </a:r>
            <a:r>
              <a:rPr lang="en-US" altLang="ko-KR" dirty="0"/>
              <a:t>-&gt; </a:t>
            </a:r>
            <a:r>
              <a:rPr lang="ko-KR" altLang="en-US" dirty="0"/>
              <a:t>이를 통해 만족도에 영향을 끼치는 요인 파악 </a:t>
            </a:r>
            <a:r>
              <a:rPr lang="en-US" altLang="ko-KR" dirty="0"/>
              <a:t>-&gt; </a:t>
            </a:r>
            <a:r>
              <a:rPr lang="ko-KR" altLang="en-US" dirty="0"/>
              <a:t>관련 정책 제시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028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480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143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05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387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교통비는 지역별 편차가 너무 크다고 판단하여 제외하였고</a:t>
            </a:r>
            <a:r>
              <a:rPr lang="en-US" altLang="ko-KR" dirty="0"/>
              <a:t>, </a:t>
            </a:r>
            <a:r>
              <a:rPr lang="ko-KR" altLang="en-US" dirty="0" err="1"/>
              <a:t>결측치가</a:t>
            </a:r>
            <a:r>
              <a:rPr lang="ko-KR" altLang="en-US" dirty="0"/>
              <a:t> 너무 많은 비용 변수는 제외하였다</a:t>
            </a:r>
            <a:r>
              <a:rPr lang="en-US" altLang="ko-KR" dirty="0"/>
              <a:t>. </a:t>
            </a:r>
            <a:r>
              <a:rPr lang="ko-KR" altLang="en-US" dirty="0"/>
              <a:t>최종 사용한 비용 변수는 </a:t>
            </a:r>
            <a:r>
              <a:rPr lang="en-US" altLang="ko-KR" dirty="0"/>
              <a:t>‘</a:t>
            </a:r>
            <a:r>
              <a:rPr lang="ko-KR" altLang="en-US" dirty="0"/>
              <a:t>식비</a:t>
            </a:r>
            <a:r>
              <a:rPr lang="en-US" altLang="ko-KR" dirty="0"/>
              <a:t>’, ‘</a:t>
            </a:r>
            <a:r>
              <a:rPr lang="ko-KR" altLang="en-US" dirty="0"/>
              <a:t>숙박비</a:t>
            </a:r>
            <a:r>
              <a:rPr lang="en-US" altLang="ko-KR" dirty="0"/>
              <a:t>’, ‘</a:t>
            </a:r>
            <a:r>
              <a:rPr lang="ko-KR" altLang="en-US" dirty="0"/>
              <a:t>활동비</a:t>
            </a:r>
            <a:r>
              <a:rPr lang="en-US" altLang="ko-KR" dirty="0"/>
              <a:t>‘</a:t>
            </a:r>
          </a:p>
          <a:p>
            <a:r>
              <a:rPr lang="ko-KR" altLang="en-US" dirty="0"/>
              <a:t>숙박일수에 </a:t>
            </a:r>
            <a:r>
              <a:rPr lang="en-US" altLang="ko-KR" dirty="0"/>
              <a:t>+1</a:t>
            </a:r>
            <a:r>
              <a:rPr lang="ko-KR" altLang="en-US" dirty="0"/>
              <a:t>만 해준 이유 </a:t>
            </a:r>
            <a:r>
              <a:rPr lang="en-US" altLang="ko-KR" dirty="0"/>
              <a:t>: </a:t>
            </a:r>
            <a:r>
              <a:rPr lang="ko-KR" altLang="en-US" dirty="0"/>
              <a:t>설문조사 </a:t>
            </a:r>
            <a:r>
              <a:rPr lang="en-US" altLang="ko-KR" dirty="0"/>
              <a:t>1</a:t>
            </a:r>
            <a:r>
              <a:rPr lang="ko-KR" altLang="en-US" dirty="0"/>
              <a:t>차부터 </a:t>
            </a:r>
            <a:r>
              <a:rPr lang="en-US" altLang="ko-KR" dirty="0"/>
              <a:t>6</a:t>
            </a:r>
            <a:r>
              <a:rPr lang="ko-KR" altLang="en-US" dirty="0"/>
              <a:t>차까지 중 </a:t>
            </a:r>
            <a:r>
              <a:rPr lang="en-US" altLang="ko-KR" dirty="0"/>
              <a:t>2</a:t>
            </a:r>
            <a:r>
              <a:rPr lang="ko-KR" altLang="en-US" dirty="0"/>
              <a:t>차시 이상의 설문조사에 응답한 경우가 없었음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796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412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5119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표본 </a:t>
            </a:r>
            <a:r>
              <a:rPr lang="en-US" altLang="ko-KR" dirty="0"/>
              <a:t>30</a:t>
            </a:r>
            <a:r>
              <a:rPr lang="ko-KR" altLang="en-US" dirty="0"/>
              <a:t>개 미만인 지역 제외했다고 말로 언급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795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76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잠재적 관광 활성화 지역의 설문조사 결과를 살펴보면</a:t>
            </a:r>
            <a:r>
              <a:rPr lang="en-US" altLang="ko-KR" dirty="0"/>
              <a:t> </a:t>
            </a:r>
            <a:r>
              <a:rPr lang="ko-KR" altLang="en-US" dirty="0"/>
              <a:t>방문객들이 </a:t>
            </a:r>
            <a:r>
              <a:rPr lang="en-US" altLang="ko-KR" dirty="0"/>
              <a:t>‘</a:t>
            </a:r>
            <a:r>
              <a:rPr lang="ko-KR" altLang="en-US" dirty="0"/>
              <a:t>힐링</a:t>
            </a:r>
            <a:r>
              <a:rPr lang="en-US" altLang="ko-KR" dirty="0"/>
              <a:t>＇</a:t>
            </a:r>
            <a:r>
              <a:rPr lang="ko-KR" altLang="en-US" dirty="0"/>
              <a:t>관련 활동을 선호함</a:t>
            </a:r>
            <a:r>
              <a:rPr lang="en-US" altLang="ko-KR" dirty="0"/>
              <a:t>(52.6%), 40~60</a:t>
            </a:r>
            <a:r>
              <a:rPr lang="ko-KR" altLang="en-US" dirty="0"/>
              <a:t>대 중장년층 관광객의 비중이 높음</a:t>
            </a:r>
            <a:r>
              <a:rPr lang="en-US" altLang="ko-KR" dirty="0"/>
              <a:t>(64.2%) </a:t>
            </a:r>
            <a:r>
              <a:rPr lang="ko-KR" altLang="en-US" dirty="0"/>
              <a:t>이를 통해 맞춤형 테마 관광을 구축할 수 있음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9199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8367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긍정적</a:t>
            </a:r>
            <a:r>
              <a:rPr lang="en-US" altLang="ko-KR" dirty="0"/>
              <a:t>/</a:t>
            </a:r>
            <a:r>
              <a:rPr lang="ko-KR" altLang="en-US" dirty="0"/>
              <a:t>부정적 영향 배경색으로 </a:t>
            </a:r>
            <a:r>
              <a:rPr lang="ko-KR" altLang="en-US" dirty="0" err="1"/>
              <a:t>나누는거</a:t>
            </a:r>
            <a:r>
              <a:rPr lang="ko-KR" altLang="en-US" dirty="0"/>
              <a:t> 별로</a:t>
            </a:r>
            <a:r>
              <a:rPr lang="en-US" altLang="ko-KR" dirty="0"/>
              <a:t>..? </a:t>
            </a:r>
            <a:r>
              <a:rPr lang="ko-KR" altLang="en-US" dirty="0"/>
              <a:t>글씨색으로 나눌까 글씨색이 </a:t>
            </a:r>
            <a:r>
              <a:rPr lang="ko-KR" altLang="en-US" dirty="0" err="1"/>
              <a:t>더별로인듯</a:t>
            </a:r>
            <a:r>
              <a:rPr lang="ko-KR" altLang="en-US" dirty="0"/>
              <a:t> 긍정적 영향이 </a:t>
            </a:r>
            <a:r>
              <a:rPr lang="ko-KR" altLang="en-US" dirty="0" err="1"/>
              <a:t>파란색인게</a:t>
            </a:r>
            <a:r>
              <a:rPr lang="ko-KR" altLang="en-US" dirty="0"/>
              <a:t> 낫나</a:t>
            </a:r>
            <a:r>
              <a:rPr lang="en-US" altLang="ko-KR" dirty="0"/>
              <a:t>..?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2980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실제 관광객들이 </a:t>
            </a:r>
            <a:r>
              <a:rPr lang="en-US" altLang="ko-KR" dirty="0"/>
              <a:t>‘</a:t>
            </a:r>
            <a:r>
              <a:rPr lang="ko-KR" altLang="en-US" dirty="0"/>
              <a:t>힐링</a:t>
            </a:r>
            <a:r>
              <a:rPr lang="en-US" altLang="ko-KR" dirty="0"/>
              <a:t>’</a:t>
            </a:r>
            <a:r>
              <a:rPr lang="ko-KR" altLang="en-US" dirty="0"/>
              <a:t>과 관련된 활동을 선호함</a:t>
            </a:r>
            <a:r>
              <a:rPr lang="en-US" altLang="ko-KR" dirty="0"/>
              <a:t>. </a:t>
            </a:r>
            <a:r>
              <a:rPr lang="ko-KR" altLang="en-US" dirty="0"/>
              <a:t>이런 경향과 유사한 </a:t>
            </a:r>
            <a:r>
              <a:rPr lang="en-US" altLang="ko-KR" dirty="0"/>
              <a:t>‘</a:t>
            </a:r>
            <a:r>
              <a:rPr lang="ko-KR" altLang="en-US" dirty="0" err="1"/>
              <a:t>웰니스</a:t>
            </a:r>
            <a:r>
              <a:rPr lang="ko-KR" altLang="en-US" dirty="0"/>
              <a:t> 관광</a:t>
            </a:r>
            <a:r>
              <a:rPr lang="en-US" altLang="ko-KR" dirty="0"/>
              <a:t>‘ </a:t>
            </a:r>
            <a:r>
              <a:rPr lang="ko-KR" altLang="en-US" dirty="0"/>
              <a:t>트렌드가 있음</a:t>
            </a:r>
            <a:r>
              <a:rPr lang="en-US" altLang="ko-KR" dirty="0"/>
              <a:t>. 2017</a:t>
            </a:r>
            <a:r>
              <a:rPr lang="ko-KR" altLang="en-US" dirty="0"/>
              <a:t>년부터 </a:t>
            </a:r>
            <a:r>
              <a:rPr lang="ko-KR" altLang="en-US" dirty="0" err="1"/>
              <a:t>문체부랑</a:t>
            </a:r>
            <a:r>
              <a:rPr lang="ko-KR" altLang="en-US" dirty="0"/>
              <a:t> 한국관광공사가 </a:t>
            </a:r>
            <a:r>
              <a:rPr lang="ko-KR" altLang="en-US" dirty="0" err="1"/>
              <a:t>웰니스</a:t>
            </a:r>
            <a:r>
              <a:rPr lang="ko-KR" altLang="en-US" dirty="0"/>
              <a:t> 테마를 기준으로 국내 우수 </a:t>
            </a:r>
            <a:r>
              <a:rPr lang="ko-KR" altLang="en-US" dirty="0" err="1"/>
              <a:t>웰니스</a:t>
            </a:r>
            <a:r>
              <a:rPr lang="ko-KR" altLang="en-US" dirty="0"/>
              <a:t> 관광지를 선정하고 있다</a:t>
            </a:r>
            <a:r>
              <a:rPr lang="en-US" altLang="ko-KR" dirty="0"/>
              <a:t>. </a:t>
            </a:r>
            <a:r>
              <a:rPr lang="ko-KR" altLang="en-US" dirty="0"/>
              <a:t>이 테마 중 주 방문 연령층인 </a:t>
            </a:r>
            <a:r>
              <a:rPr lang="en-US" altLang="ko-KR" dirty="0"/>
              <a:t>40~60</a:t>
            </a:r>
            <a:r>
              <a:rPr lang="ko-KR" altLang="en-US" dirty="0"/>
              <a:t>대는 한방 테마를 가장 선호할 것이라고 판단</a:t>
            </a:r>
            <a:r>
              <a:rPr lang="en-US" altLang="ko-KR" dirty="0"/>
              <a:t>, </a:t>
            </a:r>
            <a:r>
              <a:rPr lang="ko-KR" altLang="en-US" dirty="0"/>
              <a:t>한방 테마 활성화 방안 제안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4110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지리적으로 인접한 지역과의 연계를 통한 정책 제시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9505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지리적으로 인접한 지역과의 연계를 통한 정책 제시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1191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https://seoulcitywall.seoul.go.kr/content/132.do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3288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방문자가 여행지에 재방문할 가치가 있다고 생각할 때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더 높은 만족도를 느끼며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여행지를 다른 사람에게 추천하려는 의향은 그들의 긍정적인 여행 경험을 반영한다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8019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kern="0" spc="0" dirty="0">
              <a:solidFill>
                <a:srgbClr val="000000"/>
              </a:solidFill>
              <a:effectLst/>
              <a:latin typeface="휴먼명조"/>
              <a:ea typeface="휴먼명조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101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왼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이를 위해 지역 관광 명소와 연계한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박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3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일 역사유적지 탐방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자연 휴양림 체험 패키지 등 다양한 숙박 옵션과 체험 프로그램을 결합할 수 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. 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휴먼명조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kern="0" spc="0" dirty="0">
              <a:solidFill>
                <a:srgbClr val="000000"/>
              </a:solidFill>
              <a:effectLst/>
              <a:latin typeface="휴먼명조"/>
              <a:ea typeface="휴먼명조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2371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800" kern="0" spc="0" dirty="0">
              <a:solidFill>
                <a:srgbClr val="000000"/>
              </a:solidFill>
              <a:effectLst/>
              <a:latin typeface="휴먼명조"/>
              <a:ea typeface="휴먼명조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826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81956-A5DB-413B-A7CC-AD9AE8F6F53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750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5C477-7EC7-098A-5096-86752AEB4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334044A-1233-7FB6-7613-589577FB5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CF0625-7EB4-5B34-4B67-08CE1672B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9F84-EC2E-4AEE-91DC-5CC462D985EC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3822C0-259E-B790-23F0-54B5CE03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F48C9-8771-91EA-2E66-A88768D45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39BB-A338-40FF-8564-6D3146223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30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B0066-00C6-D493-5055-731A828D0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22E30C-57EA-1867-EBFD-5AD0D7C2F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0AA8C9-0E74-62C7-330A-AB78C3E59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683F-86D1-4FF1-88B2-2BA007EA833D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B0190-F4E2-2CD8-4F9E-D77BCC4C1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9EF8F0-0120-7BC1-2128-C99B22BB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39BB-A338-40FF-8564-6D3146223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524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65A04-20F5-19E5-ACB0-7C2F72DD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BDC629-DE1A-ACC1-C9FA-5E205551C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CEF5E2-F1DC-AAA8-AEFE-4E4FE0AC7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586AC-C7EF-42A6-92A5-9A6C84E1A974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FA9288-69C4-BB23-90D2-C2BD3B1A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06C853-97D3-57AB-1FDE-1857B55CD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39BB-A338-40FF-8564-6D3146223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22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D9AE5-5324-ECE6-01CA-6537F5EA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ECFEB5-3DDB-60A3-0DDC-36F0EC865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FCDEAE-A4A6-BC08-D2CB-A8B53EB45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B4F8DF-E3B5-125D-E236-B12EFB0C0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8F906-2EC8-4FD6-ABE4-116A43EE9E77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4CC9F-1C97-BE17-C925-82DFA526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595512-8D8B-43FD-3078-4A18D49F5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39BB-A338-40FF-8564-6D3146223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007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CDE29-FF8E-3D73-2B2C-7E5517D13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7E5AB4-26EE-5DDA-C4E6-F477524DB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2ADFB3-45A8-6BD7-DCC6-C24CD0EDF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2941F5-C1BB-A6E3-E87F-EAA15D8D16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7DB90E-1127-34FC-B531-164915C8B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46FC1E-EA65-03C3-B3C0-87A26877E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36FB-4FB6-441C-B86F-B2A441FFC452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6595A1-3EA7-F24D-367A-551C0F095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BEB070-18C1-EFC5-A8A6-9F5242110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39BB-A338-40FF-8564-6D3146223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127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02D97-9EA1-DF2A-9932-66DF90364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62FE36-B8CC-92A7-CC86-9D5474789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36DE-10A0-43B6-B124-3255912593FA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A99A4A-1601-3E57-18C3-45CC0828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7173E0-593B-7028-2C64-EBEEEEC9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39BB-A338-40FF-8564-6D3146223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262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F5F550-0206-9849-FE6D-D5F5BA89D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E3B11-7F8C-45BA-A490-4697DD1A9258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0CB5BC-8C6B-0244-EDAE-840CD65F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4EC404-4A80-8774-8A8D-6C64320BF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39BB-A338-40FF-8564-6D3146223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161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08620-7948-39AE-FB5A-D4ABE5BCE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E845E9-3FC4-0A22-CCA6-6F80F7C84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637E11-168C-8C38-9BC7-332D31B64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4E442E-1443-6DEE-1AB8-F45C5645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1D831-9C49-468D-A3DD-180FCA2EFF48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124CBD-4FCA-63CE-6CD3-07A7F2BE5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A00251-3769-4080-15CA-DB92FA40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39BB-A338-40FF-8564-6D3146223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3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A092C-EC86-8326-81B9-06FA388CF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E0E49AA-78D2-8BEC-A9A2-8BB455E27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5F0BE0-26D8-FE21-BD55-13D6E1AA2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9CE2E6-4A34-1FD9-6CE6-8DB588C3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27DC6-8C34-492D-B90A-E225CAC9C3DB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0A241D-4C0B-386A-CA86-6BA4CBA3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250519-42D4-7DFE-F479-A182B3DF2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39BB-A338-40FF-8564-6D3146223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100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72966-916D-481F-B6BE-0F29CAD5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CAD358-7B7C-D63B-5FA7-D26BDE2F4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2FBAE0-696A-31D8-5915-315D48EDD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6410C-60AE-4541-BC3C-E3E960FD8548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39D229-D7F8-6F1F-C830-0287F9A55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5D84DD-7DB0-F8AD-30CE-194767EA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39BB-A338-40FF-8564-6D3146223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48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24ADC5-3EC4-475D-2064-7F62C43F6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8435CF-A052-B872-8ED6-3596B25F1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476A5-6658-327B-6C9C-98A68FCC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994D9-2073-47E8-AE80-2F8A7F17D744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7190B1-CEE9-F647-BC57-A24E9E48F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F43F2D-A97D-67EB-9C1B-45A212CD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39BB-A338-40FF-8564-6D3146223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99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CF6D5BD-7403-3C44-FED7-0D16B1111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9922FE-4438-1DEF-6886-9676F35DE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FB8673-9F15-A4A0-F3E4-8C8CC8BBF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8ED08-6BFF-43AE-A7E8-BBC747FAE115}" type="datetime1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F8E915-77F7-2F97-6377-6E9528910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5B1FDB-8BA9-6B1B-39EA-21BE2E684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E39BB-A338-40FF-8564-6D3146223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175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5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5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50.png"/><Relationship Id="rId7" Type="http://schemas.microsoft.com/office/2007/relationships/hdphoto" Target="../media/hdphoto2.wdp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7.png"/><Relationship Id="rId5" Type="http://schemas.openxmlformats.org/officeDocument/2006/relationships/image" Target="../media/image52.png"/><Relationship Id="rId10" Type="http://schemas.openxmlformats.org/officeDocument/2006/relationships/image" Target="../media/image56.png"/><Relationship Id="rId4" Type="http://schemas.openxmlformats.org/officeDocument/2006/relationships/image" Target="../media/image51.png"/><Relationship Id="rId9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52C391E-0429-FD2D-67AD-BCF66F889EA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2743" b="34132"/>
          <a:stretch/>
        </p:blipFill>
        <p:spPr>
          <a:xfrm>
            <a:off x="1184068" y="0"/>
            <a:ext cx="10863992" cy="685800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F9748E30-0669-892C-D723-2D6D6E21E581}"/>
              </a:ext>
            </a:extLst>
          </p:cNvPr>
          <p:cNvGrpSpPr/>
          <p:nvPr/>
        </p:nvGrpSpPr>
        <p:grpSpPr>
          <a:xfrm>
            <a:off x="0" y="1712610"/>
            <a:ext cx="12192000" cy="3560714"/>
            <a:chOff x="0" y="1712610"/>
            <a:chExt cx="12192000" cy="356071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E1EF03-B814-7E2D-2371-9A6499FEAD33}"/>
                </a:ext>
              </a:extLst>
            </p:cNvPr>
            <p:cNvSpPr txBox="1"/>
            <p:nvPr/>
          </p:nvSpPr>
          <p:spPr>
            <a:xfrm>
              <a:off x="2799848" y="1712610"/>
              <a:ext cx="569287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8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강원교육튼튼" panose="02020603020101020101" pitchFamily="18" charset="-127"/>
                  <a:ea typeface="강원교육튼튼" panose="02020603020101020101" pitchFamily="18" charset="-127"/>
                </a:rPr>
                <a:t>Level</a:t>
              </a:r>
              <a:r>
                <a:rPr lang="ko-KR" altLang="en-US" sz="88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강원교육튼튼" panose="02020603020101020101" pitchFamily="18" charset="-127"/>
                  <a:ea typeface="강원교육튼튼" panose="02020603020101020101" pitchFamily="18" charset="-127"/>
                </a:rPr>
                <a:t> </a:t>
              </a:r>
              <a:r>
                <a:rPr lang="en-US" altLang="ko-KR" sz="88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강원교육튼튼" panose="02020603020101020101" pitchFamily="18" charset="-127"/>
                  <a:ea typeface="강원교육튼튼" panose="02020603020101020101" pitchFamily="18" charset="-127"/>
                </a:rPr>
                <a:t>Up,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883BC4-2C00-E89F-5E8B-956EBEDDE06A}"/>
                </a:ext>
              </a:extLst>
            </p:cNvPr>
            <p:cNvSpPr txBox="1"/>
            <p:nvPr/>
          </p:nvSpPr>
          <p:spPr>
            <a:xfrm>
              <a:off x="2958858" y="2675864"/>
              <a:ext cx="8903109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8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강원교육튼튼" panose="02020603020101020101" pitchFamily="18" charset="-127"/>
                  <a:ea typeface="강원교육튼튼" panose="02020603020101020101" pitchFamily="18" charset="-127"/>
                </a:rPr>
                <a:t>Lead</a:t>
              </a:r>
              <a:r>
                <a:rPr lang="ko-KR" altLang="en-US" sz="88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강원교육튼튼" panose="02020603020101020101" pitchFamily="18" charset="-127"/>
                  <a:ea typeface="강원교육튼튼" panose="02020603020101020101" pitchFamily="18" charset="-127"/>
                </a:rPr>
                <a:t> </a:t>
              </a:r>
              <a:r>
                <a:rPr lang="en-US" altLang="ko-KR" sz="88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강원교육튼튼" panose="02020603020101020101" pitchFamily="18" charset="-127"/>
                  <a:ea typeface="강원교육튼튼" panose="02020603020101020101" pitchFamily="18" charset="-127"/>
                </a:rPr>
                <a:t>to</a:t>
              </a:r>
              <a:r>
                <a:rPr lang="ko-KR" altLang="en-US" sz="88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강원교육튼튼" panose="02020603020101020101" pitchFamily="18" charset="-127"/>
                  <a:ea typeface="강원교육튼튼" panose="02020603020101020101" pitchFamily="18" charset="-127"/>
                </a:rPr>
                <a:t> </a:t>
              </a:r>
              <a:r>
                <a:rPr lang="en-US" altLang="ko-KR" sz="88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강원교육튼튼" panose="02020603020101020101" pitchFamily="18" charset="-127"/>
                  <a:ea typeface="강원교육튼튼" panose="02020603020101020101" pitchFamily="18" charset="-127"/>
                </a:rPr>
                <a:t>my</a:t>
              </a:r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057C0190-AB30-3514-FBA4-525485B0E754}"/>
                </a:ext>
              </a:extLst>
            </p:cNvPr>
            <p:cNvSpPr/>
            <p:nvPr/>
          </p:nvSpPr>
          <p:spPr>
            <a:xfrm>
              <a:off x="6502099" y="1843381"/>
              <a:ext cx="268543" cy="231503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AAD8F8B-BE70-C4B3-9255-F6B5918563AE}"/>
                </a:ext>
              </a:extLst>
            </p:cNvPr>
            <p:cNvSpPr txBox="1"/>
            <p:nvPr/>
          </p:nvSpPr>
          <p:spPr>
            <a:xfrm>
              <a:off x="0" y="3826774"/>
              <a:ext cx="1219200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800" dirty="0">
                  <a:solidFill>
                    <a:schemeClr val="accent1">
                      <a:lumMod val="75000"/>
                    </a:schemeClr>
                  </a:solidFill>
                  <a:latin typeface="강원교육튼튼" panose="02020603020101020101" pitchFamily="18" charset="-127"/>
                  <a:ea typeface="강원교육튼튼" panose="02020603020101020101" pitchFamily="18" charset="-127"/>
                </a:rPr>
                <a:t>Local Tourism</a:t>
              </a:r>
            </a:p>
          </p:txBody>
        </p:sp>
        <p:sp>
          <p:nvSpPr>
            <p:cNvPr id="16" name="이등변 삼각형 15">
              <a:extLst>
                <a:ext uri="{FF2B5EF4-FFF2-40B4-BE49-F238E27FC236}">
                  <a16:creationId xmlns:a16="http://schemas.microsoft.com/office/drawing/2014/main" id="{14FC326A-3E3D-EC3C-F954-EF315C955BD0}"/>
                </a:ext>
              </a:extLst>
            </p:cNvPr>
            <p:cNvSpPr/>
            <p:nvPr/>
          </p:nvSpPr>
          <p:spPr>
            <a:xfrm rot="16200000">
              <a:off x="1992973" y="3815316"/>
              <a:ext cx="256630" cy="319463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0">
              <a:extLst>
                <a:ext uri="{FF2B5EF4-FFF2-40B4-BE49-F238E27FC236}">
                  <a16:creationId xmlns:a16="http://schemas.microsoft.com/office/drawing/2014/main" id="{1E0C7E97-371B-F3EC-F053-3FE7AD82B564}"/>
                </a:ext>
              </a:extLst>
            </p:cNvPr>
            <p:cNvSpPr/>
            <p:nvPr/>
          </p:nvSpPr>
          <p:spPr>
            <a:xfrm>
              <a:off x="2278189" y="3894812"/>
              <a:ext cx="7894511" cy="173085"/>
            </a:xfrm>
            <a:custGeom>
              <a:avLst/>
              <a:gdLst>
                <a:gd name="connsiteX0" fmla="*/ 0 w 7805738"/>
                <a:gd name="connsiteY0" fmla="*/ 0 h 118611"/>
                <a:gd name="connsiteX1" fmla="*/ 7805738 w 7805738"/>
                <a:gd name="connsiteY1" fmla="*/ 0 h 118611"/>
                <a:gd name="connsiteX2" fmla="*/ 7805738 w 7805738"/>
                <a:gd name="connsiteY2" fmla="*/ 118611 h 118611"/>
                <a:gd name="connsiteX3" fmla="*/ 0 w 7805738"/>
                <a:gd name="connsiteY3" fmla="*/ 118611 h 118611"/>
                <a:gd name="connsiteX4" fmla="*/ 0 w 7805738"/>
                <a:gd name="connsiteY4" fmla="*/ 0 h 118611"/>
                <a:gd name="connsiteX0" fmla="*/ 0 w 7818438"/>
                <a:gd name="connsiteY0" fmla="*/ 0 h 131311"/>
                <a:gd name="connsiteX1" fmla="*/ 7805738 w 7818438"/>
                <a:gd name="connsiteY1" fmla="*/ 0 h 131311"/>
                <a:gd name="connsiteX2" fmla="*/ 7818438 w 7818438"/>
                <a:gd name="connsiteY2" fmla="*/ 131311 h 131311"/>
                <a:gd name="connsiteX3" fmla="*/ 0 w 7818438"/>
                <a:gd name="connsiteY3" fmla="*/ 118611 h 131311"/>
                <a:gd name="connsiteX4" fmla="*/ 0 w 7818438"/>
                <a:gd name="connsiteY4" fmla="*/ 0 h 131311"/>
                <a:gd name="connsiteX0" fmla="*/ 0 w 7818438"/>
                <a:gd name="connsiteY0" fmla="*/ 0 h 131311"/>
                <a:gd name="connsiteX1" fmla="*/ 7808913 w 7818438"/>
                <a:gd name="connsiteY1" fmla="*/ 12700 h 131311"/>
                <a:gd name="connsiteX2" fmla="*/ 7818438 w 7818438"/>
                <a:gd name="connsiteY2" fmla="*/ 131311 h 131311"/>
                <a:gd name="connsiteX3" fmla="*/ 0 w 7818438"/>
                <a:gd name="connsiteY3" fmla="*/ 118611 h 131311"/>
                <a:gd name="connsiteX4" fmla="*/ 0 w 7818438"/>
                <a:gd name="connsiteY4" fmla="*/ 0 h 131311"/>
                <a:gd name="connsiteX0" fmla="*/ 0 w 7818438"/>
                <a:gd name="connsiteY0" fmla="*/ 0 h 131311"/>
                <a:gd name="connsiteX1" fmla="*/ 7707313 w 7818438"/>
                <a:gd name="connsiteY1" fmla="*/ 0 h 131311"/>
                <a:gd name="connsiteX2" fmla="*/ 7818438 w 7818438"/>
                <a:gd name="connsiteY2" fmla="*/ 131311 h 131311"/>
                <a:gd name="connsiteX3" fmla="*/ 0 w 7818438"/>
                <a:gd name="connsiteY3" fmla="*/ 118611 h 131311"/>
                <a:gd name="connsiteX4" fmla="*/ 0 w 7818438"/>
                <a:gd name="connsiteY4" fmla="*/ 0 h 131311"/>
                <a:gd name="connsiteX0" fmla="*/ 0 w 7818438"/>
                <a:gd name="connsiteY0" fmla="*/ 0 h 131311"/>
                <a:gd name="connsiteX1" fmla="*/ 7690644 w 7818438"/>
                <a:gd name="connsiteY1" fmla="*/ 28575 h 131311"/>
                <a:gd name="connsiteX2" fmla="*/ 7818438 w 7818438"/>
                <a:gd name="connsiteY2" fmla="*/ 131311 h 131311"/>
                <a:gd name="connsiteX3" fmla="*/ 0 w 7818438"/>
                <a:gd name="connsiteY3" fmla="*/ 118611 h 131311"/>
                <a:gd name="connsiteX4" fmla="*/ 0 w 7818438"/>
                <a:gd name="connsiteY4" fmla="*/ 0 h 131311"/>
                <a:gd name="connsiteX0" fmla="*/ 0 w 7818438"/>
                <a:gd name="connsiteY0" fmla="*/ 43 h 131354"/>
                <a:gd name="connsiteX1" fmla="*/ 4105388 w 7818438"/>
                <a:gd name="connsiteY1" fmla="*/ 0 h 131354"/>
                <a:gd name="connsiteX2" fmla="*/ 7690644 w 7818438"/>
                <a:gd name="connsiteY2" fmla="*/ 28618 h 131354"/>
                <a:gd name="connsiteX3" fmla="*/ 7818438 w 7818438"/>
                <a:gd name="connsiteY3" fmla="*/ 131354 h 131354"/>
                <a:gd name="connsiteX4" fmla="*/ 0 w 7818438"/>
                <a:gd name="connsiteY4" fmla="*/ 118654 h 131354"/>
                <a:gd name="connsiteX5" fmla="*/ 0 w 7818438"/>
                <a:gd name="connsiteY5" fmla="*/ 43 h 131354"/>
                <a:gd name="connsiteX0" fmla="*/ 0 w 7818438"/>
                <a:gd name="connsiteY0" fmla="*/ 43 h 131354"/>
                <a:gd name="connsiteX1" fmla="*/ 4105388 w 7818438"/>
                <a:gd name="connsiteY1" fmla="*/ 0 h 131354"/>
                <a:gd name="connsiteX2" fmla="*/ 7700169 w 7818438"/>
                <a:gd name="connsiteY2" fmla="*/ 2424 h 131354"/>
                <a:gd name="connsiteX3" fmla="*/ 7818438 w 7818438"/>
                <a:gd name="connsiteY3" fmla="*/ 131354 h 131354"/>
                <a:gd name="connsiteX4" fmla="*/ 0 w 7818438"/>
                <a:gd name="connsiteY4" fmla="*/ 118654 h 131354"/>
                <a:gd name="connsiteX5" fmla="*/ 0 w 7818438"/>
                <a:gd name="connsiteY5" fmla="*/ 43 h 131354"/>
                <a:gd name="connsiteX0" fmla="*/ 0 w 7818438"/>
                <a:gd name="connsiteY0" fmla="*/ 43 h 131354"/>
                <a:gd name="connsiteX1" fmla="*/ 4105388 w 7818438"/>
                <a:gd name="connsiteY1" fmla="*/ 0 h 131354"/>
                <a:gd name="connsiteX2" fmla="*/ 7693025 w 7818438"/>
                <a:gd name="connsiteY2" fmla="*/ 9567 h 131354"/>
                <a:gd name="connsiteX3" fmla="*/ 7818438 w 7818438"/>
                <a:gd name="connsiteY3" fmla="*/ 131354 h 131354"/>
                <a:gd name="connsiteX4" fmla="*/ 0 w 7818438"/>
                <a:gd name="connsiteY4" fmla="*/ 118654 h 131354"/>
                <a:gd name="connsiteX5" fmla="*/ 0 w 7818438"/>
                <a:gd name="connsiteY5" fmla="*/ 43 h 131354"/>
                <a:gd name="connsiteX0" fmla="*/ 0 w 7818438"/>
                <a:gd name="connsiteY0" fmla="*/ 43 h 131354"/>
                <a:gd name="connsiteX1" fmla="*/ 4105388 w 7818438"/>
                <a:gd name="connsiteY1" fmla="*/ 0 h 131354"/>
                <a:gd name="connsiteX2" fmla="*/ 7702550 w 7818438"/>
                <a:gd name="connsiteY2" fmla="*/ 42 h 131354"/>
                <a:gd name="connsiteX3" fmla="*/ 7818438 w 7818438"/>
                <a:gd name="connsiteY3" fmla="*/ 131354 h 131354"/>
                <a:gd name="connsiteX4" fmla="*/ 0 w 7818438"/>
                <a:gd name="connsiteY4" fmla="*/ 118654 h 131354"/>
                <a:gd name="connsiteX5" fmla="*/ 0 w 7818438"/>
                <a:gd name="connsiteY5" fmla="*/ 43 h 131354"/>
                <a:gd name="connsiteX0" fmla="*/ 0 w 7818438"/>
                <a:gd name="connsiteY0" fmla="*/ 43 h 131354"/>
                <a:gd name="connsiteX1" fmla="*/ 4105388 w 7818438"/>
                <a:gd name="connsiteY1" fmla="*/ 0 h 131354"/>
                <a:gd name="connsiteX2" fmla="*/ 7719219 w 7818438"/>
                <a:gd name="connsiteY2" fmla="*/ 9567 h 131354"/>
                <a:gd name="connsiteX3" fmla="*/ 7818438 w 7818438"/>
                <a:gd name="connsiteY3" fmla="*/ 131354 h 131354"/>
                <a:gd name="connsiteX4" fmla="*/ 0 w 7818438"/>
                <a:gd name="connsiteY4" fmla="*/ 118654 h 131354"/>
                <a:gd name="connsiteX5" fmla="*/ 0 w 7818438"/>
                <a:gd name="connsiteY5" fmla="*/ 43 h 131354"/>
                <a:gd name="connsiteX0" fmla="*/ 0 w 7818438"/>
                <a:gd name="connsiteY0" fmla="*/ 43 h 131354"/>
                <a:gd name="connsiteX1" fmla="*/ 4105388 w 7818438"/>
                <a:gd name="connsiteY1" fmla="*/ 0 h 131354"/>
                <a:gd name="connsiteX2" fmla="*/ 7712076 w 7818438"/>
                <a:gd name="connsiteY2" fmla="*/ 9567 h 131354"/>
                <a:gd name="connsiteX3" fmla="*/ 7818438 w 7818438"/>
                <a:gd name="connsiteY3" fmla="*/ 131354 h 131354"/>
                <a:gd name="connsiteX4" fmla="*/ 0 w 7818438"/>
                <a:gd name="connsiteY4" fmla="*/ 118654 h 131354"/>
                <a:gd name="connsiteX5" fmla="*/ 0 w 7818438"/>
                <a:gd name="connsiteY5" fmla="*/ 43 h 131354"/>
                <a:gd name="connsiteX0" fmla="*/ 0 w 7818438"/>
                <a:gd name="connsiteY0" fmla="*/ 43 h 131354"/>
                <a:gd name="connsiteX1" fmla="*/ 4105388 w 7818438"/>
                <a:gd name="connsiteY1" fmla="*/ 0 h 131354"/>
                <a:gd name="connsiteX2" fmla="*/ 7695407 w 7818438"/>
                <a:gd name="connsiteY2" fmla="*/ 2423 h 131354"/>
                <a:gd name="connsiteX3" fmla="*/ 7818438 w 7818438"/>
                <a:gd name="connsiteY3" fmla="*/ 131354 h 131354"/>
                <a:gd name="connsiteX4" fmla="*/ 0 w 7818438"/>
                <a:gd name="connsiteY4" fmla="*/ 118654 h 131354"/>
                <a:gd name="connsiteX5" fmla="*/ 0 w 7818438"/>
                <a:gd name="connsiteY5" fmla="*/ 43 h 131354"/>
                <a:gd name="connsiteX0" fmla="*/ 0 w 7818438"/>
                <a:gd name="connsiteY0" fmla="*/ 43 h 131354"/>
                <a:gd name="connsiteX1" fmla="*/ 4105388 w 7818438"/>
                <a:gd name="connsiteY1" fmla="*/ 0 h 131354"/>
                <a:gd name="connsiteX2" fmla="*/ 7607363 w 7818438"/>
                <a:gd name="connsiteY2" fmla="*/ 7113 h 131354"/>
                <a:gd name="connsiteX3" fmla="*/ 7818438 w 7818438"/>
                <a:gd name="connsiteY3" fmla="*/ 131354 h 131354"/>
                <a:gd name="connsiteX4" fmla="*/ 0 w 7818438"/>
                <a:gd name="connsiteY4" fmla="*/ 118654 h 131354"/>
                <a:gd name="connsiteX5" fmla="*/ 0 w 7818438"/>
                <a:gd name="connsiteY5" fmla="*/ 43 h 131354"/>
                <a:gd name="connsiteX0" fmla="*/ 0 w 7611416"/>
                <a:gd name="connsiteY0" fmla="*/ 43 h 133698"/>
                <a:gd name="connsiteX1" fmla="*/ 4105388 w 7611416"/>
                <a:gd name="connsiteY1" fmla="*/ 0 h 133698"/>
                <a:gd name="connsiteX2" fmla="*/ 7607363 w 7611416"/>
                <a:gd name="connsiteY2" fmla="*/ 7113 h 133698"/>
                <a:gd name="connsiteX3" fmla="*/ 7611416 w 7611416"/>
                <a:gd name="connsiteY3" fmla="*/ 133698 h 133698"/>
                <a:gd name="connsiteX4" fmla="*/ 0 w 7611416"/>
                <a:gd name="connsiteY4" fmla="*/ 118654 h 133698"/>
                <a:gd name="connsiteX5" fmla="*/ 0 w 7611416"/>
                <a:gd name="connsiteY5" fmla="*/ 43 h 133698"/>
                <a:gd name="connsiteX0" fmla="*/ 0 w 7611416"/>
                <a:gd name="connsiteY0" fmla="*/ 43 h 133698"/>
                <a:gd name="connsiteX1" fmla="*/ 4105388 w 7611416"/>
                <a:gd name="connsiteY1" fmla="*/ 0 h 133698"/>
                <a:gd name="connsiteX2" fmla="*/ 7609742 w 7611416"/>
                <a:gd name="connsiteY2" fmla="*/ 2424 h 133698"/>
                <a:gd name="connsiteX3" fmla="*/ 7611416 w 7611416"/>
                <a:gd name="connsiteY3" fmla="*/ 133698 h 133698"/>
                <a:gd name="connsiteX4" fmla="*/ 0 w 7611416"/>
                <a:gd name="connsiteY4" fmla="*/ 118654 h 133698"/>
                <a:gd name="connsiteX5" fmla="*/ 0 w 7611416"/>
                <a:gd name="connsiteY5" fmla="*/ 43 h 133698"/>
                <a:gd name="connsiteX0" fmla="*/ 0 w 7611416"/>
                <a:gd name="connsiteY0" fmla="*/ 4652 h 138307"/>
                <a:gd name="connsiteX1" fmla="*/ 4105388 w 7611416"/>
                <a:gd name="connsiteY1" fmla="*/ 4609 h 138307"/>
                <a:gd name="connsiteX2" fmla="*/ 7609742 w 7611416"/>
                <a:gd name="connsiteY2" fmla="*/ 0 h 138307"/>
                <a:gd name="connsiteX3" fmla="*/ 7611416 w 7611416"/>
                <a:gd name="connsiteY3" fmla="*/ 138307 h 138307"/>
                <a:gd name="connsiteX4" fmla="*/ 0 w 7611416"/>
                <a:gd name="connsiteY4" fmla="*/ 123263 h 138307"/>
                <a:gd name="connsiteX5" fmla="*/ 0 w 7611416"/>
                <a:gd name="connsiteY5" fmla="*/ 4652 h 138307"/>
                <a:gd name="connsiteX0" fmla="*/ 0 w 7612121"/>
                <a:gd name="connsiteY0" fmla="*/ 43 h 133698"/>
                <a:gd name="connsiteX1" fmla="*/ 4105388 w 7612121"/>
                <a:gd name="connsiteY1" fmla="*/ 0 h 133698"/>
                <a:gd name="connsiteX2" fmla="*/ 7612121 w 7612121"/>
                <a:gd name="connsiteY2" fmla="*/ 7114 h 133698"/>
                <a:gd name="connsiteX3" fmla="*/ 7611416 w 7612121"/>
                <a:gd name="connsiteY3" fmla="*/ 133698 h 133698"/>
                <a:gd name="connsiteX4" fmla="*/ 0 w 7612121"/>
                <a:gd name="connsiteY4" fmla="*/ 118654 h 133698"/>
                <a:gd name="connsiteX5" fmla="*/ 0 w 7612121"/>
                <a:gd name="connsiteY5" fmla="*/ 43 h 133698"/>
                <a:gd name="connsiteX0" fmla="*/ 0 w 7612121"/>
                <a:gd name="connsiteY0" fmla="*/ 43 h 133698"/>
                <a:gd name="connsiteX1" fmla="*/ 4105388 w 7612121"/>
                <a:gd name="connsiteY1" fmla="*/ 0 h 133698"/>
                <a:gd name="connsiteX2" fmla="*/ 7612121 w 7612121"/>
                <a:gd name="connsiteY2" fmla="*/ 80 h 133698"/>
                <a:gd name="connsiteX3" fmla="*/ 7611416 w 7612121"/>
                <a:gd name="connsiteY3" fmla="*/ 133698 h 133698"/>
                <a:gd name="connsiteX4" fmla="*/ 0 w 7612121"/>
                <a:gd name="connsiteY4" fmla="*/ 118654 h 133698"/>
                <a:gd name="connsiteX5" fmla="*/ 0 w 7612121"/>
                <a:gd name="connsiteY5" fmla="*/ 43 h 133698"/>
                <a:gd name="connsiteX0" fmla="*/ 0 w 7611416"/>
                <a:gd name="connsiteY0" fmla="*/ 43 h 133698"/>
                <a:gd name="connsiteX1" fmla="*/ 4105388 w 7611416"/>
                <a:gd name="connsiteY1" fmla="*/ 0 h 133698"/>
                <a:gd name="connsiteX2" fmla="*/ 7524077 w 7611416"/>
                <a:gd name="connsiteY2" fmla="*/ 25870 h 133698"/>
                <a:gd name="connsiteX3" fmla="*/ 7611416 w 7611416"/>
                <a:gd name="connsiteY3" fmla="*/ 133698 h 133698"/>
                <a:gd name="connsiteX4" fmla="*/ 0 w 7611416"/>
                <a:gd name="connsiteY4" fmla="*/ 118654 h 133698"/>
                <a:gd name="connsiteX5" fmla="*/ 0 w 7611416"/>
                <a:gd name="connsiteY5" fmla="*/ 43 h 133698"/>
                <a:gd name="connsiteX0" fmla="*/ 0 w 7614501"/>
                <a:gd name="connsiteY0" fmla="*/ 43 h 133698"/>
                <a:gd name="connsiteX1" fmla="*/ 4105388 w 7614501"/>
                <a:gd name="connsiteY1" fmla="*/ 0 h 133698"/>
                <a:gd name="connsiteX2" fmla="*/ 7614501 w 7614501"/>
                <a:gd name="connsiteY2" fmla="*/ 2424 h 133698"/>
                <a:gd name="connsiteX3" fmla="*/ 7611416 w 7614501"/>
                <a:gd name="connsiteY3" fmla="*/ 133698 h 133698"/>
                <a:gd name="connsiteX4" fmla="*/ 0 w 7614501"/>
                <a:gd name="connsiteY4" fmla="*/ 118654 h 133698"/>
                <a:gd name="connsiteX5" fmla="*/ 0 w 7614501"/>
                <a:gd name="connsiteY5" fmla="*/ 43 h 133698"/>
                <a:gd name="connsiteX0" fmla="*/ 0 w 7883391"/>
                <a:gd name="connsiteY0" fmla="*/ 6997 h 140652"/>
                <a:gd name="connsiteX1" fmla="*/ 4105388 w 7883391"/>
                <a:gd name="connsiteY1" fmla="*/ 6954 h 140652"/>
                <a:gd name="connsiteX2" fmla="*/ 7883391 w 7883391"/>
                <a:gd name="connsiteY2" fmla="*/ 0 h 140652"/>
                <a:gd name="connsiteX3" fmla="*/ 7611416 w 7883391"/>
                <a:gd name="connsiteY3" fmla="*/ 140652 h 140652"/>
                <a:gd name="connsiteX4" fmla="*/ 0 w 7883391"/>
                <a:gd name="connsiteY4" fmla="*/ 125608 h 140652"/>
                <a:gd name="connsiteX5" fmla="*/ 0 w 7883391"/>
                <a:gd name="connsiteY5" fmla="*/ 6997 h 140652"/>
                <a:gd name="connsiteX0" fmla="*/ 0 w 7883391"/>
                <a:gd name="connsiteY0" fmla="*/ 6997 h 142996"/>
                <a:gd name="connsiteX1" fmla="*/ 4105388 w 7883391"/>
                <a:gd name="connsiteY1" fmla="*/ 6954 h 142996"/>
                <a:gd name="connsiteX2" fmla="*/ 7883391 w 7883391"/>
                <a:gd name="connsiteY2" fmla="*/ 0 h 142996"/>
                <a:gd name="connsiteX3" fmla="*/ 7813679 w 7883391"/>
                <a:gd name="connsiteY3" fmla="*/ 142996 h 142996"/>
                <a:gd name="connsiteX4" fmla="*/ 0 w 7883391"/>
                <a:gd name="connsiteY4" fmla="*/ 125608 h 142996"/>
                <a:gd name="connsiteX5" fmla="*/ 0 w 7883391"/>
                <a:gd name="connsiteY5" fmla="*/ 6997 h 14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3391" h="142996">
                  <a:moveTo>
                    <a:pt x="0" y="6997"/>
                  </a:moveTo>
                  <a:lnTo>
                    <a:pt x="4105388" y="6954"/>
                  </a:lnTo>
                  <a:lnTo>
                    <a:pt x="7883391" y="0"/>
                  </a:lnTo>
                  <a:cubicBezTo>
                    <a:pt x="7882363" y="43758"/>
                    <a:pt x="7814707" y="99238"/>
                    <a:pt x="7813679" y="142996"/>
                  </a:cubicBezTo>
                  <a:lnTo>
                    <a:pt x="0" y="125608"/>
                  </a:lnTo>
                  <a:lnTo>
                    <a:pt x="0" y="699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4F19256-DDD0-69D7-19CB-3D753E459143}"/>
              </a:ext>
            </a:extLst>
          </p:cNvPr>
          <p:cNvSpPr txBox="1"/>
          <p:nvPr/>
        </p:nvSpPr>
        <p:spPr>
          <a:xfrm>
            <a:off x="0" y="5273324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  <a:latin typeface="김해가야체 Bold" panose="020B0803000000000000" pitchFamily="50" charset="-127"/>
                <a:ea typeface="김해가야체 Bold" panose="020B0803000000000000" pitchFamily="50" charset="-127"/>
              </a:rPr>
              <a:t>Team : </a:t>
            </a:r>
            <a:r>
              <a:rPr lang="ko-KR" altLang="en-US" sz="2400" b="1" dirty="0">
                <a:solidFill>
                  <a:schemeClr val="accent1">
                    <a:lumMod val="50000"/>
                  </a:schemeClr>
                </a:solidFill>
                <a:latin typeface="김해가야체 Bold" panose="020B0803000000000000" pitchFamily="50" charset="-127"/>
                <a:ea typeface="김해가야체 Bold" panose="020B0803000000000000" pitchFamily="50" charset="-127"/>
              </a:rPr>
              <a:t>전지적 관광 시점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82C61C-47DD-2A46-4B91-136B82791359}"/>
              </a:ext>
            </a:extLst>
          </p:cNvPr>
          <p:cNvSpPr txBox="1"/>
          <p:nvPr/>
        </p:nvSpPr>
        <p:spPr>
          <a:xfrm>
            <a:off x="4649129" y="26325"/>
            <a:ext cx="2893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2024 </a:t>
            </a:r>
            <a:r>
              <a:rPr lang="ko-KR" altLang="en-US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관광 데이터 분석 공모전</a:t>
            </a:r>
          </a:p>
        </p:txBody>
      </p:sp>
    </p:spTree>
    <p:extLst>
      <p:ext uri="{BB962C8B-B14F-4D97-AF65-F5344CB8AC3E}">
        <p14:creationId xmlns:p14="http://schemas.microsoft.com/office/powerpoint/2010/main" val="1925125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516AFD-F74C-3E69-BBB5-7DA37C3DACCC}"/>
              </a:ext>
            </a:extLst>
          </p:cNvPr>
          <p:cNvSpPr/>
          <p:nvPr/>
        </p:nvSpPr>
        <p:spPr>
          <a:xfrm>
            <a:off x="-88900" y="3440068"/>
            <a:ext cx="12382500" cy="354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52C391E-0429-FD2D-67AD-BCF66F889EA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66209"/>
          <a:stretch/>
        </p:blipFill>
        <p:spPr>
          <a:xfrm>
            <a:off x="1182567" y="0"/>
            <a:ext cx="10863992" cy="36711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C5F2AF-FCB5-D884-80F4-762BED5A287E}"/>
              </a:ext>
            </a:extLst>
          </p:cNvPr>
          <p:cNvSpPr txBox="1"/>
          <p:nvPr/>
        </p:nvSpPr>
        <p:spPr>
          <a:xfrm>
            <a:off x="858803" y="4875354"/>
            <a:ext cx="170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주제 선정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55E94A-E7D2-C949-2662-0645B38AFCDD}"/>
              </a:ext>
            </a:extLst>
          </p:cNvPr>
          <p:cNvSpPr txBox="1"/>
          <p:nvPr/>
        </p:nvSpPr>
        <p:spPr>
          <a:xfrm>
            <a:off x="3302496" y="4660153"/>
            <a:ext cx="21691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3200">
                <a:latin typeface="경기천년제목 Medium" panose="02020603020101020101" pitchFamily="18" charset="-127"/>
                <a:ea typeface="경기천년제목 Medium" panose="02020603020101020101" pitchFamily="18" charset="-127"/>
              </a:defRPr>
            </a:lvl1pPr>
          </a:lstStyle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활용 데이터</a:t>
            </a:r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및 분석 과정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ECB2CC-B5E3-66F2-F5DA-98C8EF1F9118}"/>
              </a:ext>
            </a:extLst>
          </p:cNvPr>
          <p:cNvSpPr txBox="1"/>
          <p:nvPr/>
        </p:nvSpPr>
        <p:spPr>
          <a:xfrm>
            <a:off x="6230937" y="4913398"/>
            <a:ext cx="20585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3200">
                <a:latin typeface="경기천년제목 Medium" panose="02020603020101020101" pitchFamily="18" charset="-127"/>
                <a:ea typeface="경기천년제목 Medium" panose="02020603020101020101" pitchFamily="18" charset="-127"/>
              </a:defRPr>
            </a:lvl1pPr>
          </a:lstStyle>
          <a:p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데이터 분석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BA2966-590A-A670-C32B-1E5C5B429891}"/>
              </a:ext>
            </a:extLst>
          </p:cNvPr>
          <p:cNvSpPr txBox="1"/>
          <p:nvPr/>
        </p:nvSpPr>
        <p:spPr>
          <a:xfrm>
            <a:off x="9042749" y="4667176"/>
            <a:ext cx="220124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3200">
                <a:latin typeface="경기천년제목 Medium" panose="02020603020101020101" pitchFamily="18" charset="-127"/>
                <a:ea typeface="경기천년제목 Medium" panose="02020603020101020101" pitchFamily="18" charset="-127"/>
              </a:defRPr>
            </a:lvl1pPr>
          </a:lstStyle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정책 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</a:rPr>
              <a:t>제안 및</a:t>
            </a:r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기대효과</a:t>
            </a:r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83BFEC64-FA71-5D0D-A05D-0BA2F581CDB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47539" y="1763761"/>
            <a:ext cx="923329" cy="923329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D91EA0FA-7DCF-2CE7-ECFA-FE2580B9496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184282" y="1655421"/>
            <a:ext cx="1037212" cy="103721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BEBABB74-3A35-C3AE-25E7-76F1A2A2C74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02372" y="1763761"/>
            <a:ext cx="923329" cy="923329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4B168C2-0A74-AE8C-7CF1-6D3001E8E97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16814" y="1633438"/>
            <a:ext cx="1053114" cy="1053114"/>
          </a:xfrm>
          <a:prstGeom prst="rect">
            <a:avLst/>
          </a:prstGeom>
        </p:spPr>
      </p:pic>
      <p:sp>
        <p:nvSpPr>
          <p:cNvPr id="44" name="타원 43">
            <a:extLst>
              <a:ext uri="{FF2B5EF4-FFF2-40B4-BE49-F238E27FC236}">
                <a16:creationId xmlns:a16="http://schemas.microsoft.com/office/drawing/2014/main" id="{737B9F87-5B90-2DBE-5B3F-2F56E623F97B}"/>
              </a:ext>
            </a:extLst>
          </p:cNvPr>
          <p:cNvSpPr/>
          <p:nvPr/>
        </p:nvSpPr>
        <p:spPr>
          <a:xfrm>
            <a:off x="1640974" y="3383269"/>
            <a:ext cx="123825" cy="12382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2650663-FA21-EB6F-D841-E741F5F5B437}"/>
              </a:ext>
            </a:extLst>
          </p:cNvPr>
          <p:cNvCxnSpPr>
            <a:cxnSpLocks/>
            <a:stCxn id="44" idx="0"/>
            <a:endCxn id="39" idx="2"/>
          </p:cNvCxnSpPr>
          <p:nvPr/>
        </p:nvCxnSpPr>
        <p:spPr>
          <a:xfrm flipV="1">
            <a:off x="1702887" y="2692633"/>
            <a:ext cx="1" cy="690636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94263E41-E60E-AD68-C747-FF323E6408CB}"/>
              </a:ext>
            </a:extLst>
          </p:cNvPr>
          <p:cNvSpPr/>
          <p:nvPr/>
        </p:nvSpPr>
        <p:spPr>
          <a:xfrm>
            <a:off x="4331503" y="3383269"/>
            <a:ext cx="123825" cy="12382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D5C95CF-D6E4-3DA0-B80E-74296E6F472B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4393416" y="2463800"/>
            <a:ext cx="0" cy="919469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5ABA3486-2033-8821-428D-02C57C3516EB}"/>
              </a:ext>
            </a:extLst>
          </p:cNvPr>
          <p:cNvSpPr/>
          <p:nvPr/>
        </p:nvSpPr>
        <p:spPr>
          <a:xfrm>
            <a:off x="7182139" y="3368595"/>
            <a:ext cx="123825" cy="12382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6C578F26-1447-DFCC-4A75-7013476922A5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7244052" y="2686552"/>
            <a:ext cx="0" cy="68204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DC5CBE7B-4FEC-FE5A-574F-F30209FECF8B}"/>
              </a:ext>
            </a:extLst>
          </p:cNvPr>
          <p:cNvSpPr/>
          <p:nvPr/>
        </p:nvSpPr>
        <p:spPr>
          <a:xfrm>
            <a:off x="10085677" y="3368595"/>
            <a:ext cx="123825" cy="12382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CC89F439-62B5-6672-D1E4-4BAC6DB547BB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10147590" y="2533650"/>
            <a:ext cx="0" cy="834945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182202" y="70303"/>
            <a:ext cx="24052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solidFill>
                  <a:schemeClr val="accent1">
                    <a:lumMod val="50000"/>
                  </a:schemeClr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855802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16C159E-7D19-A06B-0EA7-32A5D55FA3EE}"/>
              </a:ext>
            </a:extLst>
          </p:cNvPr>
          <p:cNvSpPr/>
          <p:nvPr/>
        </p:nvSpPr>
        <p:spPr>
          <a:xfrm>
            <a:off x="0" y="1"/>
            <a:ext cx="124968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800" h="1262743">
                <a:moveTo>
                  <a:pt x="0" y="0"/>
                </a:moveTo>
                <a:lnTo>
                  <a:pt x="12496800" y="0"/>
                </a:lnTo>
                <a:lnTo>
                  <a:pt x="12496800" y="1262743"/>
                </a:lnTo>
                <a:lnTo>
                  <a:pt x="1524000" y="126274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1 .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주제 선정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(1) </a:t>
            </a:r>
            <a:r>
              <a:rPr lang="ko-KR" altLang="en-US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제안 배경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70567-5C11-6E9B-B964-B53C3D0ED8C1}"/>
              </a:ext>
            </a:extLst>
          </p:cNvPr>
          <p:cNvSpPr txBox="1"/>
          <p:nvPr/>
        </p:nvSpPr>
        <p:spPr>
          <a:xfrm>
            <a:off x="3325767" y="973754"/>
            <a:ext cx="5509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① 고물가로 인한 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 산업 불황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2FEDA-C3C1-C7A7-CA44-2D6EEC4BF872}"/>
              </a:ext>
            </a:extLst>
          </p:cNvPr>
          <p:cNvSpPr txBox="1"/>
          <p:nvPr/>
        </p:nvSpPr>
        <p:spPr>
          <a:xfrm>
            <a:off x="11888606" y="6504952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5CE07AD-E5CC-964F-A9B6-7A0067E95D60}"/>
              </a:ext>
            </a:extLst>
          </p:cNvPr>
          <p:cNvSpPr/>
          <p:nvPr/>
        </p:nvSpPr>
        <p:spPr>
          <a:xfrm>
            <a:off x="502920" y="1676400"/>
            <a:ext cx="5509986" cy="49682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소비자 물가지수 상승추세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FDA654D-6EF4-1E18-5D69-899F6DF32303}"/>
              </a:ext>
            </a:extLst>
          </p:cNvPr>
          <p:cNvSpPr/>
          <p:nvPr/>
        </p:nvSpPr>
        <p:spPr>
          <a:xfrm>
            <a:off x="6195763" y="1705989"/>
            <a:ext cx="5509986" cy="49682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저비용 여행 찾는 소비자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A3C42B-3A20-44D2-9301-6939E66CA2D1}"/>
              </a:ext>
            </a:extLst>
          </p:cNvPr>
          <p:cNvSpPr txBox="1"/>
          <p:nvPr/>
        </p:nvSpPr>
        <p:spPr>
          <a:xfrm>
            <a:off x="482374" y="5765037"/>
            <a:ext cx="5509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자료 </a:t>
            </a:r>
            <a:r>
              <a:rPr lang="en-US" altLang="ko-KR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통계청</a:t>
            </a:r>
            <a:r>
              <a:rPr lang="en-US" altLang="ko-KR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(2018-2023)</a:t>
            </a:r>
            <a:endParaRPr lang="ko-KR" altLang="en-US" sz="1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7" name="Picture 0">
            <a:extLst>
              <a:ext uri="{FF2B5EF4-FFF2-40B4-BE49-F238E27FC236}">
                <a16:creationId xmlns:a16="http://schemas.microsoft.com/office/drawing/2014/main" id="{1BA976B9-AC59-4566-C13C-3C89CEB01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275" y="3134540"/>
            <a:ext cx="4426858" cy="253897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C2B5A-05E5-D9B2-A82A-67DA98AA077F}"/>
              </a:ext>
            </a:extLst>
          </p:cNvPr>
          <p:cNvSpPr txBox="1"/>
          <p:nvPr/>
        </p:nvSpPr>
        <p:spPr>
          <a:xfrm>
            <a:off x="1648336" y="2185672"/>
            <a:ext cx="32191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지속적으로 </a:t>
            </a:r>
            <a:r>
              <a:rPr lang="ko-KR" altLang="en-US" sz="24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증가하고있는</a:t>
            </a:r>
            <a:endParaRPr lang="en-US" altLang="ko-KR" sz="2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소비자 물가지수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38ED3C-7E24-F844-27E9-5C288E188D91}"/>
              </a:ext>
            </a:extLst>
          </p:cNvPr>
          <p:cNvSpPr txBox="1"/>
          <p:nvPr/>
        </p:nvSpPr>
        <p:spPr>
          <a:xfrm>
            <a:off x="6179095" y="2058850"/>
            <a:ext cx="5509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출처 </a:t>
            </a:r>
            <a:r>
              <a:rPr lang="en-US" altLang="ko-KR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0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컨슈머인사이트</a:t>
            </a:r>
            <a:r>
              <a:rPr lang="en-US" altLang="ko-KR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(2023.09.26)</a:t>
            </a:r>
            <a:endParaRPr lang="ko-KR" altLang="en-US" sz="1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DDC661B-D5EA-D275-A5D5-6DBC2CE6A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431708"/>
              </p:ext>
            </p:extLst>
          </p:nvPr>
        </p:nvGraphicFramePr>
        <p:xfrm>
          <a:off x="6475096" y="2317669"/>
          <a:ext cx="4917982" cy="24674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17982">
                  <a:extLst>
                    <a:ext uri="{9D8B030D-6E8A-4147-A177-3AD203B41FA5}">
                      <a16:colId xmlns:a16="http://schemas.microsoft.com/office/drawing/2014/main" val="281109160"/>
                    </a:ext>
                  </a:extLst>
                </a:gridCol>
              </a:tblGrid>
              <a:tr h="8509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알뜰여행에서 초긴축여행으로</a:t>
                      </a:r>
                      <a:r>
                        <a:rPr lang="en-US" altLang="ko-KR" sz="2000" b="0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…</a:t>
                      </a:r>
                    </a:p>
                    <a:p>
                      <a:pPr algn="ctr" latinLnBrk="1"/>
                      <a:r>
                        <a:rPr lang="ko-KR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여행산업 위축 시작됐다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351049"/>
                  </a:ext>
                </a:extLst>
              </a:tr>
              <a:tr h="161648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‘주례 여행기획조사’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…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국내여행 비용지출 추이 비교</a:t>
                      </a:r>
                      <a:br>
                        <a:rPr lang="ko-KR" altLang="en-US" sz="1600" b="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</a:b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-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국내여행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인당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23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만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3000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원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하루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7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만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6600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원 지출</a:t>
                      </a:r>
                      <a:b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</a:b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-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작년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8</a:t>
                      </a:r>
                      <a:r>
                        <a:rPr lang="ko-KR" alt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만원대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중반에서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년 새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10%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이상 줄어들어</a:t>
                      </a:r>
                      <a:b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</a:b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- ’19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년 대비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4.3%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늘었지만 물가상승률 크게 밑돌아</a:t>
                      </a:r>
                      <a:b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</a:b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-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숙소 선택 때 가격 최우선 고려 등 지출 최소화 고민</a:t>
                      </a:r>
                      <a:endParaRPr lang="ko-KR" altLang="en-US" sz="1600" b="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71488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1B1DD534-421A-D06A-513C-B84B73916032}"/>
              </a:ext>
            </a:extLst>
          </p:cNvPr>
          <p:cNvSpPr/>
          <p:nvPr/>
        </p:nvSpPr>
        <p:spPr>
          <a:xfrm>
            <a:off x="7324725" y="2390776"/>
            <a:ext cx="2590800" cy="356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1C4C878-E7AC-2BEF-0285-1DC3E3EDC3F9}"/>
              </a:ext>
            </a:extLst>
          </p:cNvPr>
          <p:cNvCxnSpPr/>
          <p:nvPr/>
        </p:nvCxnSpPr>
        <p:spPr>
          <a:xfrm>
            <a:off x="8625840" y="4069080"/>
            <a:ext cx="22555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AD9D6E7-FB08-2113-F9F5-9EC5C332D853}"/>
              </a:ext>
            </a:extLst>
          </p:cNvPr>
          <p:cNvCxnSpPr>
            <a:cxnSpLocks/>
          </p:cNvCxnSpPr>
          <p:nvPr/>
        </p:nvCxnSpPr>
        <p:spPr>
          <a:xfrm>
            <a:off x="9427392" y="4565106"/>
            <a:ext cx="14249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1A7629F-EB15-1A91-93EC-1154A8E34C3E}"/>
              </a:ext>
            </a:extLst>
          </p:cNvPr>
          <p:cNvSpPr txBox="1"/>
          <p:nvPr/>
        </p:nvSpPr>
        <p:spPr>
          <a:xfrm>
            <a:off x="6208035" y="5181600"/>
            <a:ext cx="545213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고물가로 인해 여행 기간과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1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일 경비 모두 감소하는 추세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여행 비용에 민감하게 반응하는 경향 증가</a:t>
            </a:r>
            <a:endParaRPr lang="en-US" altLang="ko-KR" sz="2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→</a:t>
            </a:r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여행 소비 위축</a:t>
            </a:r>
            <a:endParaRPr lang="en-US" altLang="ko-KR" sz="2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E46219-367C-0F7A-61CD-C9F815843FD1}"/>
              </a:ext>
            </a:extLst>
          </p:cNvPr>
          <p:cNvSpPr/>
          <p:nvPr/>
        </p:nvSpPr>
        <p:spPr>
          <a:xfrm>
            <a:off x="5905500" y="3734328"/>
            <a:ext cx="436745" cy="89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A6B836-7A51-1DE8-F866-5323EEAC2244}"/>
              </a:ext>
            </a:extLst>
          </p:cNvPr>
          <p:cNvSpPr/>
          <p:nvPr/>
        </p:nvSpPr>
        <p:spPr>
          <a:xfrm>
            <a:off x="5883092" y="4695123"/>
            <a:ext cx="436745" cy="89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36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5CE07AD-E5CC-964F-A9B6-7A0067E95D60}"/>
              </a:ext>
            </a:extLst>
          </p:cNvPr>
          <p:cNvSpPr/>
          <p:nvPr/>
        </p:nvSpPr>
        <p:spPr>
          <a:xfrm>
            <a:off x="502920" y="1676400"/>
            <a:ext cx="5509986" cy="49682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관광 비활성화 지역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소멸 위기 지역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FDA654D-6EF4-1E18-5D69-899F6DF32303}"/>
              </a:ext>
            </a:extLst>
          </p:cNvPr>
          <p:cNvSpPr/>
          <p:nvPr/>
        </p:nvSpPr>
        <p:spPr>
          <a:xfrm>
            <a:off x="6195763" y="1705989"/>
            <a:ext cx="5509986" cy="49682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관광 과밀화 지역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오버투어리즘</a:t>
            </a:r>
            <a:r>
              <a:rPr lang="ko-KR" altLang="en-US" dirty="0">
                <a:solidFill>
                  <a:schemeClr val="tx1"/>
                </a:solidFill>
              </a:rPr>
              <a:t> 내용 넣을까</a:t>
            </a:r>
            <a:r>
              <a:rPr lang="en-US" altLang="ko-KR" dirty="0">
                <a:solidFill>
                  <a:schemeClr val="tx1"/>
                </a:solidFill>
              </a:rPr>
              <a:t>,,)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76634D-8615-42ED-8406-5C8EA9A904AE}"/>
              </a:ext>
            </a:extLst>
          </p:cNvPr>
          <p:cNvSpPr txBox="1"/>
          <p:nvPr/>
        </p:nvSpPr>
        <p:spPr>
          <a:xfrm>
            <a:off x="4253259" y="5161081"/>
            <a:ext cx="36688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solidFill>
                  <a:schemeClr val="accent1">
                    <a:lumMod val="20000"/>
                    <a:lumOff val="80000"/>
                  </a:schemeClr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  <a:cs typeface="KoPubWorld돋움체 Bold" panose="00000800000000000000" pitchFamily="2" charset="-127"/>
              </a:rPr>
              <a:t>VS</a:t>
            </a:r>
            <a:endParaRPr lang="ko-KR" altLang="en-US" sz="8000" dirty="0">
              <a:solidFill>
                <a:schemeClr val="accent1">
                  <a:lumMod val="20000"/>
                  <a:lumOff val="80000"/>
                </a:schemeClr>
              </a:solidFill>
              <a:latin typeface="강원교육튼튼" panose="02020603020101020101" pitchFamily="18" charset="-127"/>
              <a:ea typeface="강원교육튼튼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직사각형 8">
            <a:extLst>
              <a:ext uri="{FF2B5EF4-FFF2-40B4-BE49-F238E27FC236}">
                <a16:creationId xmlns:a16="http://schemas.microsoft.com/office/drawing/2014/main" id="{D5B0D9EC-C7F5-E2D6-40FC-1A4C0FE97969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1 .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주제 선정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(1) </a:t>
            </a:r>
            <a:r>
              <a:rPr lang="ko-KR" altLang="en-US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제안 배경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70567-5C11-6E9B-B964-B53C3D0ED8C1}"/>
              </a:ext>
            </a:extLst>
          </p:cNvPr>
          <p:cNvSpPr txBox="1"/>
          <p:nvPr/>
        </p:nvSpPr>
        <p:spPr>
          <a:xfrm>
            <a:off x="0" y="973754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② 지역별 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관광의 불균형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2FEDA-C3C1-C7A7-CA44-2D6EEC4BF872}"/>
              </a:ext>
            </a:extLst>
          </p:cNvPr>
          <p:cNvSpPr txBox="1"/>
          <p:nvPr/>
        </p:nvSpPr>
        <p:spPr>
          <a:xfrm>
            <a:off x="11888606" y="6504952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A0E0A32-8C42-C1EE-0F40-C58385E2F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564781"/>
              </p:ext>
            </p:extLst>
          </p:nvPr>
        </p:nvGraphicFramePr>
        <p:xfrm>
          <a:off x="798922" y="2068275"/>
          <a:ext cx="4917982" cy="31133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17982">
                  <a:extLst>
                    <a:ext uri="{9D8B030D-6E8A-4147-A177-3AD203B41FA5}">
                      <a16:colId xmlns:a16="http://schemas.microsoft.com/office/drawing/2014/main" val="281109160"/>
                    </a:ext>
                  </a:extLst>
                </a:gridCol>
              </a:tblGrid>
              <a:tr h="86859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위기에 처한 인구감소지역</a:t>
                      </a:r>
                      <a:r>
                        <a:rPr lang="en-US" altLang="ko-KR" sz="2000" b="1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…</a:t>
                      </a:r>
                    </a:p>
                    <a:p>
                      <a:pPr algn="ctr"/>
                      <a:r>
                        <a:rPr lang="ko-KR" altLang="en-US" sz="2000" b="1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여행으로 달라질 수 있는 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351049"/>
                  </a:ext>
                </a:extLst>
              </a:tr>
              <a:tr h="224473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지방 도시들은 인구가 소멸할 수 있다는 위기마저 맞닥뜨렸다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. 2023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년 현재 우리나라는 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89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개 지역을 인구감소 지역으로 지정했다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.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그리고 사라질 위기에 처한 지방 소도시들을 살리기 위한 방안으로 관광 산업을 주목하고 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.</a:t>
                      </a:r>
                    </a:p>
                    <a:p>
                      <a:pPr algn="l" latinLnBrk="1"/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한국관광공사와 문화체육관광부는 </a:t>
                      </a:r>
                      <a:r>
                        <a:rPr lang="ko-KR" alt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인구소멸위기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지역으로 관광 수요를 유도하는 사업을 지속적으로 진행하고 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.</a:t>
                      </a:r>
                      <a:endParaRPr lang="ko-KR" altLang="en-US" sz="1600" b="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7148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6CF20DE-CCCA-3E0E-C756-70041FD829E6}"/>
              </a:ext>
            </a:extLst>
          </p:cNvPr>
          <p:cNvSpPr txBox="1"/>
          <p:nvPr/>
        </p:nvSpPr>
        <p:spPr>
          <a:xfrm>
            <a:off x="502921" y="1822056"/>
            <a:ext cx="5509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출처 </a:t>
            </a:r>
            <a:r>
              <a:rPr lang="en-US" altLang="ko-KR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여행신문</a:t>
            </a:r>
            <a:r>
              <a:rPr lang="en-US" altLang="ko-KR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(2023.07.31)</a:t>
            </a:r>
            <a:endParaRPr lang="ko-KR" altLang="en-US" sz="1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2A0357-2403-8359-92A2-BD76B9EACFD8}"/>
              </a:ext>
            </a:extLst>
          </p:cNvPr>
          <p:cNvSpPr txBox="1"/>
          <p:nvPr/>
        </p:nvSpPr>
        <p:spPr>
          <a:xfrm>
            <a:off x="502919" y="5364257"/>
            <a:ext cx="550998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 비활성화 지역</a:t>
            </a:r>
            <a:endParaRPr lang="en-US" altLang="ko-KR" sz="28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관광을 통한 지역 발전 </a:t>
            </a:r>
            <a:r>
              <a:rPr lang="ko-KR" altLang="en-US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노력</a:t>
            </a:r>
            <a:endParaRPr lang="en-US" altLang="ko-KR" sz="2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88F0385-2521-FBDF-69FB-BA4D0C9F1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508"/>
              </p:ext>
            </p:extLst>
          </p:nvPr>
        </p:nvGraphicFramePr>
        <p:xfrm>
          <a:off x="6491765" y="2067769"/>
          <a:ext cx="4917982" cy="31490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17982">
                  <a:extLst>
                    <a:ext uri="{9D8B030D-6E8A-4147-A177-3AD203B41FA5}">
                      <a16:colId xmlns:a16="http://schemas.microsoft.com/office/drawing/2014/main" val="281109160"/>
                    </a:ext>
                  </a:extLst>
                </a:gridCol>
              </a:tblGrid>
              <a:tr h="86512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각양각색 과잉 관광 </a:t>
                      </a:r>
                      <a:r>
                        <a:rPr lang="ko-KR" altLang="en-US" sz="2000" b="0" i="0" kern="1200" dirty="0" err="1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대응법</a:t>
                      </a:r>
                      <a:r>
                        <a:rPr lang="en-US" altLang="ko-KR" sz="2000" b="0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···</a:t>
                      </a:r>
                    </a:p>
                    <a:p>
                      <a:pPr algn="ctr"/>
                      <a:r>
                        <a:rPr lang="ko-KR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지속가능한 해법이 필요해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351049"/>
                  </a:ext>
                </a:extLst>
              </a:tr>
              <a:tr h="228390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‘과잉 관광’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(</a:t>
                      </a:r>
                      <a:r>
                        <a:rPr lang="ko-KR" alt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오버투어리즘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overtourism)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이란 수용 가능 인원보다 많은 관광객이 지역을 방문하는 현상과 그로 인한 부작용을 말한다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.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코로나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19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팬데믹으로 한동안 잠잠했던 과잉 관광 문제가 세계 곳곳에서 터지고 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.</a:t>
                      </a:r>
                    </a:p>
                    <a:p>
                      <a:pPr algn="l" latinLnBrk="1"/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한국문화관광연구원 박주영 관광산업연구실장은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&lt;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채널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PNU&gt;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와의 인터뷰에서 </a:t>
                      </a:r>
                      <a:r>
                        <a:rPr lang="en-US" altLang="ko-KR" sz="1600" b="0" i="1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(···</a:t>
                      </a:r>
                      <a:r>
                        <a:rPr lang="ko-KR" altLang="en-US" sz="1600" b="0" i="1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중략</a:t>
                      </a:r>
                      <a:r>
                        <a:rPr lang="en-US" altLang="ko-KR" sz="1600" b="0" i="1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···)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“관광객이 특정 시기에 너무 몰리지 않도록 숨겨진 명소를 찾고 질서를 지키는 등 관광객 분산이 </a:t>
                      </a:r>
                      <a:r>
                        <a:rPr lang="ko-KR" alt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필요하다”고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덧붙였다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.</a:t>
                      </a:r>
                      <a:endParaRPr lang="ko-KR" altLang="en-US" sz="1600" b="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7148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E5B81F8-EAE1-CB4D-AEF2-3559242DFB58}"/>
              </a:ext>
            </a:extLst>
          </p:cNvPr>
          <p:cNvSpPr txBox="1"/>
          <p:nvPr/>
        </p:nvSpPr>
        <p:spPr>
          <a:xfrm>
            <a:off x="6179093" y="5364257"/>
            <a:ext cx="550998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 활성화 지역</a:t>
            </a:r>
            <a:endParaRPr lang="en-US" altLang="ko-KR" sz="28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과잉 관광 해결 </a:t>
            </a:r>
            <a:r>
              <a:rPr lang="ko-KR" altLang="en-US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위한 </a:t>
            </a:r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 분산</a:t>
            </a:r>
            <a:r>
              <a:rPr lang="ko-KR" altLang="en-US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필요</a:t>
            </a:r>
            <a:endParaRPr lang="en-US" altLang="ko-KR" sz="2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8C1B78-1258-BC9E-8B89-084A1CFD16D9}"/>
              </a:ext>
            </a:extLst>
          </p:cNvPr>
          <p:cNvSpPr txBox="1"/>
          <p:nvPr/>
        </p:nvSpPr>
        <p:spPr>
          <a:xfrm>
            <a:off x="6179093" y="1796655"/>
            <a:ext cx="5509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출처 </a:t>
            </a:r>
            <a:r>
              <a:rPr lang="en-US" altLang="ko-KR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en-US" altLang="ko-KR" sz="10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channelPNU</a:t>
            </a:r>
            <a:r>
              <a:rPr lang="en-US" altLang="ko-KR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(2023.11.02)</a:t>
            </a:r>
            <a:endParaRPr lang="ko-KR" altLang="en-US" sz="1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F541197-A25D-9E3C-7469-A4CB80A3357E}"/>
              </a:ext>
            </a:extLst>
          </p:cNvPr>
          <p:cNvCxnSpPr>
            <a:cxnSpLocks/>
          </p:cNvCxnSpPr>
          <p:nvPr/>
        </p:nvCxnSpPr>
        <p:spPr>
          <a:xfrm>
            <a:off x="2529840" y="4000194"/>
            <a:ext cx="29311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D962496-C378-122B-DCF4-E52D884F9B8A}"/>
              </a:ext>
            </a:extLst>
          </p:cNvPr>
          <p:cNvCxnSpPr>
            <a:cxnSpLocks/>
          </p:cNvCxnSpPr>
          <p:nvPr/>
        </p:nvCxnSpPr>
        <p:spPr>
          <a:xfrm>
            <a:off x="904240" y="4278703"/>
            <a:ext cx="30911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C6ABD83-CEF9-CDB4-01DD-0368FD9FB39A}"/>
              </a:ext>
            </a:extLst>
          </p:cNvPr>
          <p:cNvCxnSpPr>
            <a:cxnSpLocks/>
          </p:cNvCxnSpPr>
          <p:nvPr/>
        </p:nvCxnSpPr>
        <p:spPr>
          <a:xfrm>
            <a:off x="3670300" y="4520003"/>
            <a:ext cx="18707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8B5CC57-F0F8-FCB2-2E19-DBE9F732FB13}"/>
              </a:ext>
            </a:extLst>
          </p:cNvPr>
          <p:cNvCxnSpPr>
            <a:cxnSpLocks/>
          </p:cNvCxnSpPr>
          <p:nvPr/>
        </p:nvCxnSpPr>
        <p:spPr>
          <a:xfrm>
            <a:off x="904240" y="4761303"/>
            <a:ext cx="21056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A96AC7E-F681-F5D1-BD90-33471B06BDA4}"/>
              </a:ext>
            </a:extLst>
          </p:cNvPr>
          <p:cNvCxnSpPr>
            <a:cxnSpLocks/>
          </p:cNvCxnSpPr>
          <p:nvPr/>
        </p:nvCxnSpPr>
        <p:spPr>
          <a:xfrm>
            <a:off x="6597015" y="5019369"/>
            <a:ext cx="15659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21B5F52-20E9-EC54-C109-D142F324A354}"/>
              </a:ext>
            </a:extLst>
          </p:cNvPr>
          <p:cNvCxnSpPr>
            <a:cxnSpLocks/>
          </p:cNvCxnSpPr>
          <p:nvPr/>
        </p:nvCxnSpPr>
        <p:spPr>
          <a:xfrm>
            <a:off x="6597015" y="3552519"/>
            <a:ext cx="445198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ED86439-CD55-9D20-8841-E52DF8A4E6C3}"/>
              </a:ext>
            </a:extLst>
          </p:cNvPr>
          <p:cNvCxnSpPr>
            <a:cxnSpLocks/>
          </p:cNvCxnSpPr>
          <p:nvPr/>
        </p:nvCxnSpPr>
        <p:spPr>
          <a:xfrm>
            <a:off x="6597015" y="3800169"/>
            <a:ext cx="54292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6D8CC29-FF54-2F06-6F5E-FB891CAA0E51}"/>
              </a:ext>
            </a:extLst>
          </p:cNvPr>
          <p:cNvCxnSpPr>
            <a:cxnSpLocks/>
          </p:cNvCxnSpPr>
          <p:nvPr/>
        </p:nvCxnSpPr>
        <p:spPr>
          <a:xfrm>
            <a:off x="10254615" y="3295344"/>
            <a:ext cx="10515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77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8">
            <a:extLst>
              <a:ext uri="{FF2B5EF4-FFF2-40B4-BE49-F238E27FC236}">
                <a16:creationId xmlns:a16="http://schemas.microsoft.com/office/drawing/2014/main" id="{0D60C0F3-4481-BF50-2256-4B88B26C952D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1 .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주제 선정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(1) </a:t>
            </a:r>
            <a:r>
              <a:rPr lang="ko-KR" altLang="en-US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제안 배경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70567-5C11-6E9B-B964-B53C3D0ED8C1}"/>
              </a:ext>
            </a:extLst>
          </p:cNvPr>
          <p:cNvSpPr txBox="1"/>
          <p:nvPr/>
        </p:nvSpPr>
        <p:spPr>
          <a:xfrm>
            <a:off x="0" y="973754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③ 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여행 소비 트렌드 </a:t>
            </a:r>
            <a:r>
              <a:rPr lang="en-US" altLang="ko-KR" sz="3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32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가심비</a:t>
            </a:r>
            <a:r>
              <a:rPr lang="ko-KR" altLang="en-US" sz="3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3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VS </a:t>
            </a:r>
            <a:r>
              <a:rPr lang="ko-KR" altLang="en-US" sz="3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가성비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2FEDA-C3C1-C7A7-CA44-2D6EEC4BF872}"/>
              </a:ext>
            </a:extLst>
          </p:cNvPr>
          <p:cNvSpPr txBox="1"/>
          <p:nvPr/>
        </p:nvSpPr>
        <p:spPr>
          <a:xfrm>
            <a:off x="11888606" y="6504952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5CE07AD-E5CC-964F-A9B6-7A0067E95D60}"/>
              </a:ext>
            </a:extLst>
          </p:cNvPr>
          <p:cNvSpPr/>
          <p:nvPr/>
        </p:nvSpPr>
        <p:spPr>
          <a:xfrm>
            <a:off x="502920" y="1676400"/>
            <a:ext cx="5509986" cy="49682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여행소비 양극화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가성비 </a:t>
            </a:r>
            <a:r>
              <a:rPr lang="en-US" altLang="ko-KR" dirty="0">
                <a:solidFill>
                  <a:schemeClr val="tx1"/>
                </a:solidFill>
              </a:rPr>
              <a:t>vs </a:t>
            </a:r>
            <a:r>
              <a:rPr lang="ko-KR" altLang="en-US" dirty="0" err="1">
                <a:solidFill>
                  <a:schemeClr val="tx1"/>
                </a:solidFill>
              </a:rPr>
              <a:t>가심비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FDA654D-6EF4-1E18-5D69-899F6DF32303}"/>
              </a:ext>
            </a:extLst>
          </p:cNvPr>
          <p:cNvSpPr/>
          <p:nvPr/>
        </p:nvSpPr>
        <p:spPr>
          <a:xfrm>
            <a:off x="6195763" y="1676401"/>
            <a:ext cx="5509986" cy="499782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가심비</a:t>
            </a:r>
            <a:r>
              <a:rPr lang="ko-KR" altLang="en-US" dirty="0">
                <a:solidFill>
                  <a:schemeClr val="tx1"/>
                </a:solidFill>
              </a:rPr>
              <a:t> 여행 정의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가심비</a:t>
            </a:r>
            <a:r>
              <a:rPr lang="ko-KR" altLang="en-US" dirty="0">
                <a:solidFill>
                  <a:schemeClr val="tx1"/>
                </a:solidFill>
              </a:rPr>
              <a:t> 여행 트렌드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DA96A5-64B4-6BCE-21FC-3BB610388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78" y="2000358"/>
            <a:ext cx="4801270" cy="1552792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CECC48-C7FA-3CDC-BBBC-905080F2F6DB}"/>
              </a:ext>
            </a:extLst>
          </p:cNvPr>
          <p:cNvSpPr txBox="1"/>
          <p:nvPr/>
        </p:nvSpPr>
        <p:spPr>
          <a:xfrm>
            <a:off x="502921" y="1723657"/>
            <a:ext cx="5509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출처 </a:t>
            </a:r>
            <a:r>
              <a:rPr lang="en-US" altLang="ko-KR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한국관광공사</a:t>
            </a:r>
            <a:r>
              <a:rPr lang="en-US" altLang="ko-KR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(2023)</a:t>
            </a:r>
            <a:endParaRPr lang="ko-KR" altLang="en-US" sz="1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CCC4ABA-A304-EF49-33E0-80373B63C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77" y="3639511"/>
            <a:ext cx="4801270" cy="164254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3ADF2D-7C4F-B497-6393-3427C4FB4936}"/>
              </a:ext>
            </a:extLst>
          </p:cNvPr>
          <p:cNvSpPr txBox="1"/>
          <p:nvPr/>
        </p:nvSpPr>
        <p:spPr>
          <a:xfrm>
            <a:off x="488406" y="5556360"/>
            <a:ext cx="5526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국내여행시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가성비를 추구하는 비율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및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의미 있는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경험을 </a:t>
            </a:r>
            <a:endParaRPr lang="en-US" altLang="ko-KR" dirty="0">
              <a:solidFill>
                <a:schemeClr val="accent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위해 비용을 추가 지불할 의향 비율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동시에 높게 나타남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47A4462-0987-646D-E896-06A04AC7F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763675"/>
              </p:ext>
            </p:extLst>
          </p:nvPr>
        </p:nvGraphicFramePr>
        <p:xfrm>
          <a:off x="6491765" y="2259437"/>
          <a:ext cx="4917982" cy="271067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17982">
                  <a:extLst>
                    <a:ext uri="{9D8B030D-6E8A-4147-A177-3AD203B41FA5}">
                      <a16:colId xmlns:a16="http://schemas.microsoft.com/office/drawing/2014/main" val="281109160"/>
                    </a:ext>
                  </a:extLst>
                </a:gridCol>
              </a:tblGrid>
              <a:tr h="7297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‘</a:t>
                      </a:r>
                      <a:r>
                        <a:rPr lang="ko-KR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여행도 양극화’ 여행업계</a:t>
                      </a:r>
                      <a:r>
                        <a:rPr lang="en-US" altLang="ko-KR" sz="2000" b="0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,</a:t>
                      </a:r>
                    </a:p>
                    <a:p>
                      <a:pPr algn="ctr"/>
                      <a:r>
                        <a:rPr lang="en-US" altLang="ko-KR" sz="2000" b="0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</a:t>
                      </a:r>
                      <a:r>
                        <a:rPr lang="ko-KR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가성비</a:t>
                      </a:r>
                      <a:r>
                        <a:rPr lang="en-US" altLang="ko-KR" sz="2000" b="0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·</a:t>
                      </a:r>
                      <a:r>
                        <a:rPr lang="ko-KR" altLang="en-US" sz="2000" b="0" i="0" kern="1200" dirty="0" err="1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가심비</a:t>
                      </a:r>
                      <a:r>
                        <a:rPr lang="ko-KR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</a:t>
                      </a:r>
                      <a:r>
                        <a:rPr lang="ko-KR" altLang="en-US" sz="2000" b="0" i="0" kern="1200" dirty="0" err="1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투트랙</a:t>
                      </a:r>
                      <a:r>
                        <a:rPr lang="ko-KR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 본격화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351049"/>
                  </a:ext>
                </a:extLst>
              </a:tr>
              <a:tr h="1980891"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여행업계가 ‘</a:t>
                      </a:r>
                      <a:r>
                        <a:rPr lang="ko-KR" altLang="en-US" sz="1600" dirty="0" err="1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가심비</a:t>
                      </a:r>
                      <a:r>
                        <a:rPr lang="en-US" altLang="ko-KR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(</a:t>
                      </a:r>
                      <a:r>
                        <a:rPr lang="ko-KR" altLang="en-US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가격 대비 심리적 만족도</a:t>
                      </a:r>
                      <a:r>
                        <a:rPr lang="en-US" altLang="ko-KR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)’</a:t>
                      </a:r>
                      <a:r>
                        <a:rPr lang="ko-KR" altLang="en-US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와 ‘가성비</a:t>
                      </a:r>
                      <a:r>
                        <a:rPr lang="en-US" altLang="ko-KR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(</a:t>
                      </a:r>
                      <a:r>
                        <a:rPr lang="ko-KR" altLang="en-US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가격 대비 성능</a:t>
                      </a:r>
                      <a:r>
                        <a:rPr lang="en-US" altLang="ko-KR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)’</a:t>
                      </a:r>
                      <a:r>
                        <a:rPr lang="ko-KR" altLang="en-US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를 모두 잡는 </a:t>
                      </a:r>
                      <a:r>
                        <a:rPr lang="ko-KR" altLang="en-US" sz="1600" dirty="0" err="1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투트랙</a:t>
                      </a:r>
                      <a:r>
                        <a:rPr lang="ko-KR" altLang="en-US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전략을 본격화한다</a:t>
                      </a:r>
                      <a:r>
                        <a:rPr lang="en-US" altLang="ko-KR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.</a:t>
                      </a:r>
                    </a:p>
                    <a:p>
                      <a:r>
                        <a:rPr lang="ko-KR" altLang="en-US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고물가</a:t>
                      </a:r>
                      <a:r>
                        <a:rPr lang="en-US" altLang="ko-KR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고금리 기조가 이어지면서 상대적으로 저렴한 </a:t>
                      </a:r>
                      <a:endParaRPr lang="en-US" altLang="ko-KR" sz="1600" dirty="0"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  <a:p>
                      <a:r>
                        <a:rPr lang="ko-KR" altLang="en-US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가성비 여행상품을 찾는 고객들도 있지만 그동안 억눌렸던 소비 심리가 폭발하면서 여행 비용을 아끼지 않는 여행객들까지 늘어나고 </a:t>
                      </a:r>
                      <a:r>
                        <a:rPr lang="ko-KR" altLang="en-US" sz="1600" dirty="0" err="1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있어서다</a:t>
                      </a:r>
                      <a:r>
                        <a:rPr lang="en-US" altLang="ko-KR" sz="1600" dirty="0"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7148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C90AD90-3CD4-1CA2-ACE7-927A439CB364}"/>
              </a:ext>
            </a:extLst>
          </p:cNvPr>
          <p:cNvSpPr txBox="1"/>
          <p:nvPr/>
        </p:nvSpPr>
        <p:spPr>
          <a:xfrm>
            <a:off x="6179094" y="2013217"/>
            <a:ext cx="5509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출처 </a:t>
            </a:r>
            <a:r>
              <a:rPr lang="en-US" altLang="ko-KR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0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데일리안</a:t>
            </a:r>
            <a:r>
              <a:rPr lang="en-US" altLang="ko-KR" sz="1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(2023.02.15)</a:t>
            </a:r>
            <a:endParaRPr lang="ko-KR" altLang="en-US" sz="1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A89EBA-1E85-901F-4227-A5DDD5269F6B}"/>
              </a:ext>
            </a:extLst>
          </p:cNvPr>
          <p:cNvSpPr/>
          <p:nvPr/>
        </p:nvSpPr>
        <p:spPr>
          <a:xfrm>
            <a:off x="7516403" y="2593123"/>
            <a:ext cx="2246721" cy="3156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85139C-52E8-9DBA-5E4A-30E75235C064}"/>
              </a:ext>
            </a:extLst>
          </p:cNvPr>
          <p:cNvSpPr txBox="1"/>
          <p:nvPr/>
        </p:nvSpPr>
        <p:spPr>
          <a:xfrm>
            <a:off x="6176942" y="5679470"/>
            <a:ext cx="550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가심비</a:t>
            </a:r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+ </a:t>
            </a:r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가성비</a:t>
            </a:r>
            <a:r>
              <a:rPr lang="ko-KR" altLang="en-US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동시에 잡는 전략 필요</a:t>
            </a:r>
            <a:endParaRPr lang="ko-KR" altLang="en-US" sz="2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438ACA9-98D6-371A-D8A9-1969A8E25E59}"/>
              </a:ext>
            </a:extLst>
          </p:cNvPr>
          <p:cNvCxnSpPr/>
          <p:nvPr/>
        </p:nvCxnSpPr>
        <p:spPr>
          <a:xfrm>
            <a:off x="7612380" y="3451860"/>
            <a:ext cx="34975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2D86D3E-0FDA-5A97-EB9B-8FAAC3908365}"/>
              </a:ext>
            </a:extLst>
          </p:cNvPr>
          <p:cNvCxnSpPr>
            <a:cxnSpLocks/>
          </p:cNvCxnSpPr>
          <p:nvPr/>
        </p:nvCxnSpPr>
        <p:spPr>
          <a:xfrm>
            <a:off x="6577238" y="3703320"/>
            <a:ext cx="338972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366AF5C-B81A-76E0-DF73-6F9E309D04CE}"/>
              </a:ext>
            </a:extLst>
          </p:cNvPr>
          <p:cNvSpPr/>
          <p:nvPr/>
        </p:nvSpPr>
        <p:spPr>
          <a:xfrm>
            <a:off x="5954549" y="3734328"/>
            <a:ext cx="320045" cy="89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4C7502-54A0-54DD-206A-A0BEBF0A32A1}"/>
              </a:ext>
            </a:extLst>
          </p:cNvPr>
          <p:cNvSpPr/>
          <p:nvPr/>
        </p:nvSpPr>
        <p:spPr>
          <a:xfrm>
            <a:off x="5932823" y="4695123"/>
            <a:ext cx="341771" cy="89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225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FCA4175-4717-77CD-9684-46F1A597362E}"/>
              </a:ext>
            </a:extLst>
          </p:cNvPr>
          <p:cNvSpPr/>
          <p:nvPr/>
        </p:nvSpPr>
        <p:spPr>
          <a:xfrm>
            <a:off x="1009240" y="1662692"/>
            <a:ext cx="2702101" cy="21279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 발전이 </a:t>
            </a:r>
            <a:endParaRPr lang="en-US" altLang="ko-KR" sz="24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필요한 지역 </a:t>
            </a:r>
            <a:r>
              <a:rPr lang="ko-KR" altLang="en-US" sz="24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파악</a:t>
            </a:r>
            <a:endParaRPr lang="en-US" altLang="ko-KR" sz="24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관광이 활성화되지 </a:t>
            </a:r>
            <a:endParaRPr lang="en-US" altLang="ko-KR" dirty="0">
              <a:solidFill>
                <a:schemeClr val="accent1">
                  <a:lumMod val="50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않은 지역 </a:t>
            </a:r>
            <a:r>
              <a:rPr lang="ko-KR" altLang="en-US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찾기</a:t>
            </a:r>
            <a:endParaRPr lang="ko-KR" altLang="en-US" sz="16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6C159E-7D19-A06B-0EA7-32A5D55FA3EE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1 .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주제 선정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(2) </a:t>
            </a:r>
            <a:r>
              <a:rPr lang="ko-KR" altLang="en-US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분석 목표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F56CC4-AC48-239B-55F7-A5230D6AC6E3}"/>
              </a:ext>
            </a:extLst>
          </p:cNvPr>
          <p:cNvSpPr txBox="1"/>
          <p:nvPr/>
        </p:nvSpPr>
        <p:spPr>
          <a:xfrm>
            <a:off x="11888606" y="6504952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7B1EBE-5705-2430-2FBA-833CDD2CF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190" y="996491"/>
            <a:ext cx="666200" cy="66620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E488BD4-32F3-2277-9AFA-A18F4414D24F}"/>
              </a:ext>
            </a:extLst>
          </p:cNvPr>
          <p:cNvSpPr/>
          <p:nvPr/>
        </p:nvSpPr>
        <p:spPr>
          <a:xfrm>
            <a:off x="4859727" y="1662691"/>
            <a:ext cx="2702101" cy="21279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 활성화 </a:t>
            </a:r>
            <a:endParaRPr lang="en-US" altLang="ko-KR" sz="24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잠재력이</a:t>
            </a:r>
            <a:endParaRPr lang="en-US" altLang="ko-KR" sz="24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높은 지역 </a:t>
            </a:r>
            <a:r>
              <a:rPr lang="ko-KR" altLang="en-US" sz="24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파악</a:t>
            </a:r>
            <a:endParaRPr lang="en-US" altLang="ko-KR" sz="24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실제 방문객들이 </a:t>
            </a:r>
            <a:endParaRPr lang="en-US" altLang="ko-KR" dirty="0">
              <a:solidFill>
                <a:schemeClr val="accent1">
                  <a:lumMod val="50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만족한 지역</a:t>
            </a:r>
            <a:r>
              <a:rPr lang="ko-KR" altLang="en-US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찾기</a:t>
            </a:r>
            <a:endParaRPr lang="ko-KR" altLang="en-US" sz="16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67C8643-8905-9A47-19E7-0C17FFB62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185" y="1035508"/>
            <a:ext cx="627183" cy="627183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903E514-9AFB-0667-F5CF-622C378EFA4F}"/>
              </a:ext>
            </a:extLst>
          </p:cNvPr>
          <p:cNvSpPr/>
          <p:nvPr/>
        </p:nvSpPr>
        <p:spPr>
          <a:xfrm>
            <a:off x="8599286" y="1662691"/>
            <a:ext cx="2702101" cy="211487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가성비 </a:t>
            </a:r>
            <a:r>
              <a:rPr lang="en-US" altLang="ko-KR" sz="24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+ </a:t>
            </a:r>
            <a:r>
              <a:rPr lang="ko-KR" altLang="en-US" sz="2400" dirty="0" err="1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가심비</a:t>
            </a:r>
            <a:endParaRPr lang="en-US" altLang="ko-KR" sz="24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가성비와 가심비를 </a:t>
            </a:r>
            <a:endParaRPr lang="en-US" altLang="ko-KR" dirty="0">
              <a:solidFill>
                <a:schemeClr val="accent1">
                  <a:lumMod val="50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모두 만족</a:t>
            </a:r>
            <a:r>
              <a:rPr lang="ko-KR" altLang="en-US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할 수 있는 </a:t>
            </a:r>
            <a:endParaRPr lang="en-US" altLang="ko-KR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지역 찾기</a:t>
            </a:r>
            <a:endParaRPr lang="ko-KR" altLang="en-US" sz="16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3DDA669-C17E-12CB-7A65-CF483E53F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853" y="1023725"/>
            <a:ext cx="638966" cy="638966"/>
          </a:xfrm>
          <a:prstGeom prst="rect">
            <a:avLst/>
          </a:prstGeom>
        </p:spPr>
      </p:pic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B22F38BE-4845-7B53-C533-78ADA2075FFC}"/>
              </a:ext>
            </a:extLst>
          </p:cNvPr>
          <p:cNvSpPr/>
          <p:nvPr/>
        </p:nvSpPr>
        <p:spPr>
          <a:xfrm rot="10800000">
            <a:off x="1009240" y="4153822"/>
            <a:ext cx="10292147" cy="973770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더하기 기호 18">
            <a:extLst>
              <a:ext uri="{FF2B5EF4-FFF2-40B4-BE49-F238E27FC236}">
                <a16:creationId xmlns:a16="http://schemas.microsoft.com/office/drawing/2014/main" id="{F1C74BAE-7EB5-493F-4686-0F6353444E81}"/>
              </a:ext>
            </a:extLst>
          </p:cNvPr>
          <p:cNvSpPr/>
          <p:nvPr/>
        </p:nvSpPr>
        <p:spPr>
          <a:xfrm>
            <a:off x="3941302" y="2375896"/>
            <a:ext cx="688464" cy="688464"/>
          </a:xfrm>
          <a:prstGeom prst="mathPlus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더하기 기호 19">
            <a:extLst>
              <a:ext uri="{FF2B5EF4-FFF2-40B4-BE49-F238E27FC236}">
                <a16:creationId xmlns:a16="http://schemas.microsoft.com/office/drawing/2014/main" id="{29464A4C-3DBA-D8FE-9315-F9B6E91E1A6C}"/>
              </a:ext>
            </a:extLst>
          </p:cNvPr>
          <p:cNvSpPr/>
          <p:nvPr/>
        </p:nvSpPr>
        <p:spPr>
          <a:xfrm>
            <a:off x="7736325" y="2375896"/>
            <a:ext cx="688464" cy="688464"/>
          </a:xfrm>
          <a:prstGeom prst="mathPlus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14C291-ED4A-4F6E-FE30-99F84D91F98E}"/>
              </a:ext>
            </a:extLst>
          </p:cNvPr>
          <p:cNvSpPr txBox="1"/>
          <p:nvPr/>
        </p:nvSpPr>
        <p:spPr>
          <a:xfrm>
            <a:off x="0" y="4627655"/>
            <a:ext cx="12188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잠재적 관광 활성화 지역 선정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B35EE2-C795-17B6-787A-D51174BAD14F}"/>
              </a:ext>
            </a:extLst>
          </p:cNvPr>
          <p:cNvSpPr txBox="1"/>
          <p:nvPr/>
        </p:nvSpPr>
        <p:spPr>
          <a:xfrm>
            <a:off x="-12699" y="5481247"/>
            <a:ext cx="12188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→ 맞춤형 전략 수립을 통한 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 불균형 해소</a:t>
            </a:r>
          </a:p>
        </p:txBody>
      </p:sp>
    </p:spTree>
    <p:extLst>
      <p:ext uri="{BB962C8B-B14F-4D97-AF65-F5344CB8AC3E}">
        <p14:creationId xmlns:p14="http://schemas.microsoft.com/office/powerpoint/2010/main" val="2724526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16C159E-7D19-A06B-0EA7-32A5D55FA3EE}"/>
              </a:ext>
            </a:extLst>
          </p:cNvPr>
          <p:cNvSpPr/>
          <p:nvPr/>
        </p:nvSpPr>
        <p:spPr>
          <a:xfrm>
            <a:off x="0" y="1"/>
            <a:ext cx="124968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800" h="1262743">
                <a:moveTo>
                  <a:pt x="0" y="0"/>
                </a:moveTo>
                <a:lnTo>
                  <a:pt x="12496800" y="0"/>
                </a:lnTo>
                <a:lnTo>
                  <a:pt x="12496800" y="1262743"/>
                </a:lnTo>
                <a:lnTo>
                  <a:pt x="1524000" y="126274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2.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활용 데이터 및 분석 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8D41B-B5D8-3909-F4E0-EF732908E858}"/>
              </a:ext>
            </a:extLst>
          </p:cNvPr>
          <p:cNvSpPr txBox="1"/>
          <p:nvPr/>
        </p:nvSpPr>
        <p:spPr>
          <a:xfrm>
            <a:off x="11888606" y="6504952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C3C80-8F65-491A-65A2-6080CCD945F7}"/>
              </a:ext>
            </a:extLst>
          </p:cNvPr>
          <p:cNvSpPr txBox="1"/>
          <p:nvPr/>
        </p:nvSpPr>
        <p:spPr>
          <a:xfrm>
            <a:off x="831538" y="922163"/>
            <a:ext cx="1531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공간군집분석</a:t>
            </a:r>
            <a:endParaRPr lang="ko-KR" altLang="en-US" sz="2000" dirty="0">
              <a:solidFill>
                <a:schemeClr val="accent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5C162B-16B5-0F11-0A09-400623744643}"/>
              </a:ext>
            </a:extLst>
          </p:cNvPr>
          <p:cNvSpPr/>
          <p:nvPr/>
        </p:nvSpPr>
        <p:spPr>
          <a:xfrm>
            <a:off x="197648" y="1278023"/>
            <a:ext cx="2798351" cy="5372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91FFD6-639F-E70F-CCEB-0D136591C090}"/>
              </a:ext>
            </a:extLst>
          </p:cNvPr>
          <p:cNvSpPr txBox="1"/>
          <p:nvPr/>
        </p:nvSpPr>
        <p:spPr>
          <a:xfrm>
            <a:off x="5468264" y="3017020"/>
            <a:ext cx="1255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분류분석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AB393B-51FB-94F8-04F8-771D15317F7A}"/>
              </a:ext>
            </a:extLst>
          </p:cNvPr>
          <p:cNvSpPr/>
          <p:nvPr/>
        </p:nvSpPr>
        <p:spPr>
          <a:xfrm>
            <a:off x="3193277" y="3348782"/>
            <a:ext cx="5788524" cy="3299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C64D57-883F-15E8-40C3-D7F483CB8845}"/>
              </a:ext>
            </a:extLst>
          </p:cNvPr>
          <p:cNvSpPr txBox="1"/>
          <p:nvPr/>
        </p:nvSpPr>
        <p:spPr>
          <a:xfrm>
            <a:off x="10013157" y="922163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회귀분석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1C58420-F1A3-C4DF-81D6-B675CBCA8758}"/>
              </a:ext>
            </a:extLst>
          </p:cNvPr>
          <p:cNvSpPr/>
          <p:nvPr/>
        </p:nvSpPr>
        <p:spPr>
          <a:xfrm>
            <a:off x="9155156" y="1281430"/>
            <a:ext cx="2798351" cy="5372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C6DFF4-AB78-FD26-F186-8FD659243CA5}"/>
              </a:ext>
            </a:extLst>
          </p:cNvPr>
          <p:cNvSpPr txBox="1"/>
          <p:nvPr/>
        </p:nvSpPr>
        <p:spPr>
          <a:xfrm>
            <a:off x="5118372" y="942033"/>
            <a:ext cx="1834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</a:t>
            </a:r>
            <a:r>
              <a:rPr lang="ko-KR" altLang="en-US" sz="2000" dirty="0" err="1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전처리</a:t>
            </a:r>
            <a:endParaRPr lang="ko-KR" altLang="en-US" sz="2000" dirty="0">
              <a:solidFill>
                <a:schemeClr val="accent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5DC4B48-F554-9887-7236-30A6F3DCAAFC}"/>
              </a:ext>
            </a:extLst>
          </p:cNvPr>
          <p:cNvSpPr/>
          <p:nvPr/>
        </p:nvSpPr>
        <p:spPr>
          <a:xfrm>
            <a:off x="3201738" y="1279268"/>
            <a:ext cx="5788524" cy="16377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28F0C5ED-2427-0E6E-810C-52A785821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76" y="1578783"/>
            <a:ext cx="1531188" cy="53907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1296D85-F735-0EEF-FF0D-1E1D9D3994F5}"/>
              </a:ext>
            </a:extLst>
          </p:cNvPr>
          <p:cNvSpPr txBox="1"/>
          <p:nvPr/>
        </p:nvSpPr>
        <p:spPr>
          <a:xfrm>
            <a:off x="197648" y="2212104"/>
            <a:ext cx="2785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 활성화 지수</a:t>
            </a:r>
            <a:r>
              <a:rPr lang="en-US" altLang="ko-KR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(2023)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3868BC8-3FC3-4BB0-FCA7-ADBD15EDFDAB}"/>
              </a:ext>
            </a:extLst>
          </p:cNvPr>
          <p:cNvSpPr/>
          <p:nvPr/>
        </p:nvSpPr>
        <p:spPr>
          <a:xfrm>
            <a:off x="450799" y="2876356"/>
            <a:ext cx="2299854" cy="1026047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1D26BD-C760-C022-5C73-01B8E6B47E0D}"/>
              </a:ext>
            </a:extLst>
          </p:cNvPr>
          <p:cNvSpPr txBox="1"/>
          <p:nvPr/>
        </p:nvSpPr>
        <p:spPr>
          <a:xfrm>
            <a:off x="993704" y="2750729"/>
            <a:ext cx="1178528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</a:t>
            </a:r>
            <a:r>
              <a:rPr lang="ko-KR" altLang="en-US" sz="14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전처리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1E73AC-F12F-A3A8-FB33-03B4AB2163B1}"/>
              </a:ext>
            </a:extLst>
          </p:cNvPr>
          <p:cNvSpPr txBox="1"/>
          <p:nvPr/>
        </p:nvSpPr>
        <p:spPr>
          <a:xfrm>
            <a:off x="525383" y="3093028"/>
            <a:ext cx="216597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일부 하위 </a:t>
            </a:r>
            <a:r>
              <a:rPr lang="ko-KR" altLang="en-US" sz="1400" dirty="0" err="1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행정구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통합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각 지역 별 방문객 비율을 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이용한 가중 평균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C443D2-A3D2-CDD3-B7AE-D9581788AB7A}"/>
              </a:ext>
            </a:extLst>
          </p:cNvPr>
          <p:cNvSpPr/>
          <p:nvPr/>
        </p:nvSpPr>
        <p:spPr>
          <a:xfrm>
            <a:off x="450799" y="4137117"/>
            <a:ext cx="2299854" cy="854854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C8755C-66EC-6378-67DA-EEABC7735929}"/>
              </a:ext>
            </a:extLst>
          </p:cNvPr>
          <p:cNvSpPr txBox="1"/>
          <p:nvPr/>
        </p:nvSpPr>
        <p:spPr>
          <a:xfrm>
            <a:off x="1019354" y="4011489"/>
            <a:ext cx="1127232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공간군집분석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0EAB30-6951-0975-C1A4-4B5AD4C62B81}"/>
              </a:ext>
            </a:extLst>
          </p:cNvPr>
          <p:cNvSpPr txBox="1"/>
          <p:nvPr/>
        </p:nvSpPr>
        <p:spPr>
          <a:xfrm>
            <a:off x="723194" y="4348570"/>
            <a:ext cx="1770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Local Moran’s I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이용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공간자기상관성 분석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B5A6898-0D7B-9E00-2E42-16A4484DE47D}"/>
              </a:ext>
            </a:extLst>
          </p:cNvPr>
          <p:cNvCxnSpPr>
            <a:cxnSpLocks/>
          </p:cNvCxnSpPr>
          <p:nvPr/>
        </p:nvCxnSpPr>
        <p:spPr>
          <a:xfrm>
            <a:off x="1571625" y="5189399"/>
            <a:ext cx="0" cy="60180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E05E506-B2B1-76FB-0B14-48DE0A183B28}"/>
              </a:ext>
            </a:extLst>
          </p:cNvPr>
          <p:cNvSpPr txBox="1"/>
          <p:nvPr/>
        </p:nvSpPr>
        <p:spPr>
          <a:xfrm>
            <a:off x="171938" y="5891064"/>
            <a:ext cx="279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콜드스팟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&amp;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핫스팟 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도출</a:t>
            </a: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4C6FD041-194A-32F5-F84A-5EB54560B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811" y="1422995"/>
            <a:ext cx="1294377" cy="68976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0450D7F-A8F7-E703-BF95-EA9CC7BA70AF}"/>
              </a:ext>
            </a:extLst>
          </p:cNvPr>
          <p:cNvSpPr txBox="1"/>
          <p:nvPr/>
        </p:nvSpPr>
        <p:spPr>
          <a:xfrm>
            <a:off x="4703330" y="2145621"/>
            <a:ext cx="2785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국민여행조사</a:t>
            </a:r>
            <a:r>
              <a:rPr lang="en-US" altLang="ko-KR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(2023)</a:t>
            </a:r>
            <a:endParaRPr lang="ko-KR" altLang="en-US" sz="1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A4E796-63CB-D53C-D151-C5891FAA82F5}"/>
              </a:ext>
            </a:extLst>
          </p:cNvPr>
          <p:cNvSpPr txBox="1"/>
          <p:nvPr/>
        </p:nvSpPr>
        <p:spPr>
          <a:xfrm>
            <a:off x="5171262" y="2380777"/>
            <a:ext cx="1832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만족도 </a:t>
            </a:r>
            <a:r>
              <a:rPr lang="ko-KR" altLang="en-US" sz="14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결측치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삭제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‘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방문지역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변수 생성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0A5B85AA-B4A7-0A83-A0A0-91B4D3D74CC9}"/>
              </a:ext>
            </a:extLst>
          </p:cNvPr>
          <p:cNvGrpSpPr/>
          <p:nvPr/>
        </p:nvGrpSpPr>
        <p:grpSpPr>
          <a:xfrm>
            <a:off x="3446227" y="3464014"/>
            <a:ext cx="2452916" cy="1446040"/>
            <a:chOff x="3446227" y="3436802"/>
            <a:chExt cx="2452916" cy="1446040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B9B75AA9-6286-D06B-D1AD-D015128E9930}"/>
                </a:ext>
              </a:extLst>
            </p:cNvPr>
            <p:cNvSpPr/>
            <p:nvPr/>
          </p:nvSpPr>
          <p:spPr>
            <a:xfrm>
              <a:off x="3531273" y="3562429"/>
              <a:ext cx="2299854" cy="1308198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4040192-639B-6873-6E11-D3C8C5B3A9AF}"/>
                </a:ext>
              </a:extLst>
            </p:cNvPr>
            <p:cNvSpPr txBox="1"/>
            <p:nvPr/>
          </p:nvSpPr>
          <p:spPr>
            <a:xfrm>
              <a:off x="4032613" y="3436802"/>
              <a:ext cx="1178528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데이터 </a:t>
              </a:r>
              <a:r>
                <a:rPr lang="ko-KR" altLang="en-US" sz="1400" dirty="0" err="1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전처리</a:t>
              </a:r>
              <a:endParaRPr lang="ko-KR" altLang="en-US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CECDB2A-CAE4-6B7E-EB4C-F49D4728527C}"/>
                </a:ext>
              </a:extLst>
            </p:cNvPr>
            <p:cNvSpPr txBox="1"/>
            <p:nvPr/>
          </p:nvSpPr>
          <p:spPr>
            <a:xfrm>
              <a:off x="3446227" y="3713291"/>
              <a:ext cx="2452916" cy="11695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파생변수 생성</a:t>
              </a:r>
              <a:endParaRPr lang="en-US" altLang="ko-KR" sz="1400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ctr"/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- 1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인 지출 비용 총합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ctr"/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-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여행 일 수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ctr"/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- 1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인 </a:t>
              </a: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1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일 지출 비용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ctr"/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-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지역별 비용</a:t>
              </a: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&amp;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만족도 가중평균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E5EA075E-1A02-085C-73E9-0FC22F5F87AF}"/>
              </a:ext>
            </a:extLst>
          </p:cNvPr>
          <p:cNvGrpSpPr/>
          <p:nvPr/>
        </p:nvGrpSpPr>
        <p:grpSpPr>
          <a:xfrm>
            <a:off x="6291579" y="3464014"/>
            <a:ext cx="2299854" cy="1441873"/>
            <a:chOff x="6291579" y="3440029"/>
            <a:chExt cx="2299854" cy="1296406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3B8A8AAC-3FDE-7EEB-CCBC-0EE732AA7CBB}"/>
                </a:ext>
              </a:extLst>
            </p:cNvPr>
            <p:cNvSpPr/>
            <p:nvPr/>
          </p:nvSpPr>
          <p:spPr>
            <a:xfrm>
              <a:off x="6291579" y="3565656"/>
              <a:ext cx="2299854" cy="1170779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EB8C28D-4A5E-829C-79F5-F74D25303CD1}"/>
                </a:ext>
              </a:extLst>
            </p:cNvPr>
            <p:cNvSpPr txBox="1"/>
            <p:nvPr/>
          </p:nvSpPr>
          <p:spPr>
            <a:xfrm>
              <a:off x="6975662" y="3440029"/>
              <a:ext cx="813044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분류분석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CC2F44B-F3C6-3091-3B14-9BB99D207D90}"/>
                </a:ext>
              </a:extLst>
            </p:cNvPr>
            <p:cNvSpPr txBox="1"/>
            <p:nvPr/>
          </p:nvSpPr>
          <p:spPr>
            <a:xfrm>
              <a:off x="6505982" y="3923475"/>
              <a:ext cx="17524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비용 및 만족도 </a:t>
              </a:r>
              <a:r>
                <a:rPr lang="ko-KR" altLang="en-US" sz="1400" dirty="0" err="1">
                  <a:solidFill>
                    <a:schemeClr val="accent1">
                      <a:lumMod val="50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사분면</a:t>
              </a:r>
              <a:endParaRPr lang="en-US" altLang="ko-KR" sz="1400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ctr"/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→ 지역 분류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F1E79D8-9C53-F73E-4679-CA701AAD5E19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5831127" y="4243740"/>
            <a:ext cx="4604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C6CF291-3E49-7389-33E8-7BAC18FE7674}"/>
              </a:ext>
            </a:extLst>
          </p:cNvPr>
          <p:cNvSpPr txBox="1"/>
          <p:nvPr/>
        </p:nvSpPr>
        <p:spPr>
          <a:xfrm>
            <a:off x="4601008" y="5070638"/>
            <a:ext cx="28777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공간군집분석과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결합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잠재적 관광 활성화 지역 선정</a:t>
            </a: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B111C304-B4EB-78CB-92FE-CC3D4EE947DA}"/>
              </a:ext>
            </a:extLst>
          </p:cNvPr>
          <p:cNvCxnSpPr>
            <a:cxnSpLocks/>
          </p:cNvCxnSpPr>
          <p:nvPr/>
        </p:nvCxnSpPr>
        <p:spPr>
          <a:xfrm>
            <a:off x="2995999" y="6058268"/>
            <a:ext cx="197278" cy="0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97E4DB6B-A6DC-4473-6E30-8B215112D559}"/>
              </a:ext>
            </a:extLst>
          </p:cNvPr>
          <p:cNvCxnSpPr>
            <a:cxnSpLocks/>
          </p:cNvCxnSpPr>
          <p:nvPr/>
        </p:nvCxnSpPr>
        <p:spPr>
          <a:xfrm>
            <a:off x="4656089" y="2917019"/>
            <a:ext cx="0" cy="431763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DAFB9955-60E2-54DE-ADD3-3B8BD3621442}"/>
              </a:ext>
            </a:extLst>
          </p:cNvPr>
          <p:cNvCxnSpPr>
            <a:cxnSpLocks/>
          </p:cNvCxnSpPr>
          <p:nvPr/>
        </p:nvCxnSpPr>
        <p:spPr>
          <a:xfrm flipH="1">
            <a:off x="6810639" y="4986739"/>
            <a:ext cx="539340" cy="26067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B240D57C-EA4C-79DF-5688-B13670DBF491}"/>
              </a:ext>
            </a:extLst>
          </p:cNvPr>
          <p:cNvGrpSpPr/>
          <p:nvPr/>
        </p:nvGrpSpPr>
        <p:grpSpPr>
          <a:xfrm>
            <a:off x="4850266" y="5780895"/>
            <a:ext cx="2299854" cy="752016"/>
            <a:chOff x="6291579" y="3440029"/>
            <a:chExt cx="2299854" cy="752016"/>
          </a:xfrm>
        </p:grpSpPr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2B6349E6-850D-1CAB-991F-2DF0555EBC72}"/>
                </a:ext>
              </a:extLst>
            </p:cNvPr>
            <p:cNvSpPr/>
            <p:nvPr/>
          </p:nvSpPr>
          <p:spPr>
            <a:xfrm>
              <a:off x="6291579" y="3565657"/>
              <a:ext cx="2299854" cy="60024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45268969-1270-C6C0-82A5-676DF75DA1BE}"/>
                </a:ext>
              </a:extLst>
            </p:cNvPr>
            <p:cNvSpPr txBox="1"/>
            <p:nvPr/>
          </p:nvSpPr>
          <p:spPr>
            <a:xfrm>
              <a:off x="7162717" y="3440029"/>
              <a:ext cx="540533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EDA</a:t>
              </a:r>
              <a:endParaRPr lang="ko-KR" altLang="en-US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36D6FD1-B345-044A-E0EA-D38B1E13BFFF}"/>
                </a:ext>
              </a:extLst>
            </p:cNvPr>
            <p:cNvSpPr txBox="1"/>
            <p:nvPr/>
          </p:nvSpPr>
          <p:spPr>
            <a:xfrm>
              <a:off x="6344643" y="3668825"/>
              <a:ext cx="22445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주된 활동 </a:t>
              </a: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&amp;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연령대를 고려한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ctr"/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맞춤형 관광 전략 제시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BAA93346-3C06-3D2B-5FC1-8704C80A91ED}"/>
              </a:ext>
            </a:extLst>
          </p:cNvPr>
          <p:cNvCxnSpPr>
            <a:cxnSpLocks/>
          </p:cNvCxnSpPr>
          <p:nvPr/>
        </p:nvCxnSpPr>
        <p:spPr>
          <a:xfrm>
            <a:off x="8981801" y="6242369"/>
            <a:ext cx="173355" cy="0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D9BDAD72-FB2F-8C5D-17D8-98487D161EA3}"/>
              </a:ext>
            </a:extLst>
          </p:cNvPr>
          <p:cNvCxnSpPr>
            <a:cxnSpLocks/>
          </p:cNvCxnSpPr>
          <p:nvPr/>
        </p:nvCxnSpPr>
        <p:spPr>
          <a:xfrm>
            <a:off x="8981801" y="1721939"/>
            <a:ext cx="173355" cy="0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BE49C279-258C-B5A7-5730-902B2A83528D}"/>
              </a:ext>
            </a:extLst>
          </p:cNvPr>
          <p:cNvGrpSpPr/>
          <p:nvPr/>
        </p:nvGrpSpPr>
        <p:grpSpPr>
          <a:xfrm>
            <a:off x="9412919" y="1375123"/>
            <a:ext cx="2299854" cy="1433825"/>
            <a:chOff x="3531273" y="3436802"/>
            <a:chExt cx="2299854" cy="1433825"/>
          </a:xfrm>
        </p:grpSpPr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3EC54B5A-BCDD-7AE1-1813-150B4E59812F}"/>
                </a:ext>
              </a:extLst>
            </p:cNvPr>
            <p:cNvSpPr/>
            <p:nvPr/>
          </p:nvSpPr>
          <p:spPr>
            <a:xfrm>
              <a:off x="3531273" y="3562429"/>
              <a:ext cx="2299854" cy="1308198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5B3A2254-A1B2-820A-D4A0-93348262C6A2}"/>
                </a:ext>
              </a:extLst>
            </p:cNvPr>
            <p:cNvSpPr txBox="1"/>
            <p:nvPr/>
          </p:nvSpPr>
          <p:spPr>
            <a:xfrm>
              <a:off x="4032613" y="3436802"/>
              <a:ext cx="1178528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데이터 </a:t>
              </a:r>
              <a:r>
                <a:rPr lang="ko-KR" altLang="en-US" sz="1400" dirty="0" err="1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전처리</a:t>
              </a:r>
              <a:endParaRPr lang="ko-KR" altLang="en-US" sz="1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7833FE3B-240F-709B-FA98-C8C592420EC4}"/>
                </a:ext>
              </a:extLst>
            </p:cNvPr>
            <p:cNvSpPr txBox="1"/>
            <p:nvPr/>
          </p:nvSpPr>
          <p:spPr>
            <a:xfrm>
              <a:off x="3532794" y="3776791"/>
              <a:ext cx="227979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① 잠재적 관광 활성화 지역의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ctr"/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데이터만 추출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ctr"/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② 명목형 독립변수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ctr"/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차원축소</a:t>
              </a:r>
              <a:r>
                <a:rPr lang="en-US" altLang="ko-KR" sz="1400" dirty="0">
                  <a:solidFill>
                    <a:schemeClr val="accent1">
                      <a:lumMod val="50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, 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원</a:t>
              </a:r>
              <a:r>
                <a:rPr lang="en-US" altLang="ko-KR" sz="1400" dirty="0">
                  <a:solidFill>
                    <a:schemeClr val="accent1">
                      <a:lumMod val="50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-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핫 인코딩</a:t>
              </a:r>
              <a:endParaRPr lang="en-US" altLang="ko-KR" sz="1400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1A17FD01-06F6-C31F-BE76-D479A62297AE}"/>
              </a:ext>
            </a:extLst>
          </p:cNvPr>
          <p:cNvGrpSpPr/>
          <p:nvPr/>
        </p:nvGrpSpPr>
        <p:grpSpPr>
          <a:xfrm>
            <a:off x="9412919" y="2872728"/>
            <a:ext cx="2299854" cy="1819921"/>
            <a:chOff x="3531273" y="3436802"/>
            <a:chExt cx="2299854" cy="1819921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5FCB6A7D-DF7B-E139-B867-921FD775B185}"/>
                </a:ext>
              </a:extLst>
            </p:cNvPr>
            <p:cNvSpPr/>
            <p:nvPr/>
          </p:nvSpPr>
          <p:spPr>
            <a:xfrm>
              <a:off x="3531273" y="3562428"/>
              <a:ext cx="2299854" cy="1694295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D394CD88-B4C0-00BF-69A2-247E0441996C}"/>
                </a:ext>
              </a:extLst>
            </p:cNvPr>
            <p:cNvSpPr txBox="1"/>
            <p:nvPr/>
          </p:nvSpPr>
          <p:spPr>
            <a:xfrm>
              <a:off x="4215356" y="3436802"/>
              <a:ext cx="813044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회귀분석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AE92DB7A-721E-BD92-12F1-B100A6579CF6}"/>
                </a:ext>
              </a:extLst>
            </p:cNvPr>
            <p:cNvSpPr txBox="1"/>
            <p:nvPr/>
          </p:nvSpPr>
          <p:spPr>
            <a:xfrm>
              <a:off x="3717945" y="3789491"/>
              <a:ext cx="1909497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단계적 변수 선택법 이용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ctr"/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독립변수 선택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ctr"/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ctr"/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종속변수 </a:t>
              </a: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: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만족도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ctr"/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ctr"/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OLS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회귀분석 실시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D25B536B-063F-68AE-CCDE-225BE1F37C76}"/>
              </a:ext>
            </a:extLst>
          </p:cNvPr>
          <p:cNvCxnSpPr>
            <a:cxnSpLocks/>
          </p:cNvCxnSpPr>
          <p:nvPr/>
        </p:nvCxnSpPr>
        <p:spPr>
          <a:xfrm>
            <a:off x="10559716" y="4829023"/>
            <a:ext cx="0" cy="5340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3B17A64-7CE2-A3B8-EF46-403A3D224AD0}"/>
              </a:ext>
            </a:extLst>
          </p:cNvPr>
          <p:cNvSpPr txBox="1"/>
          <p:nvPr/>
        </p:nvSpPr>
        <p:spPr>
          <a:xfrm>
            <a:off x="9163671" y="5508144"/>
            <a:ext cx="2798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만족도에 영향을 끼치는</a:t>
            </a:r>
            <a:endParaRPr lang="en-US" altLang="ko-KR" dirty="0">
              <a:solidFill>
                <a:schemeClr val="accent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요인 파악 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긍정적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부정적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0281E9D-7FD9-41A4-9CCA-5857E65FA49D}"/>
              </a:ext>
            </a:extLst>
          </p:cNvPr>
          <p:cNvSpPr txBox="1"/>
          <p:nvPr/>
        </p:nvSpPr>
        <p:spPr>
          <a:xfrm>
            <a:off x="9606435" y="6233042"/>
            <a:ext cx="1863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→ 관광 정책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전략 제안</a:t>
            </a:r>
          </a:p>
        </p:txBody>
      </p:sp>
    </p:spTree>
    <p:extLst>
      <p:ext uri="{BB962C8B-B14F-4D97-AF65-F5344CB8AC3E}">
        <p14:creationId xmlns:p14="http://schemas.microsoft.com/office/powerpoint/2010/main" val="141705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8">
            <a:extLst>
              <a:ext uri="{FF2B5EF4-FFF2-40B4-BE49-F238E27FC236}">
                <a16:creationId xmlns:a16="http://schemas.microsoft.com/office/drawing/2014/main" id="{E9879697-2E3F-C44C-5602-95B91DAE6C11}"/>
              </a:ext>
            </a:extLst>
          </p:cNvPr>
          <p:cNvSpPr/>
          <p:nvPr/>
        </p:nvSpPr>
        <p:spPr>
          <a:xfrm>
            <a:off x="0" y="1"/>
            <a:ext cx="124968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800" h="1262743">
                <a:moveTo>
                  <a:pt x="0" y="0"/>
                </a:moveTo>
                <a:lnTo>
                  <a:pt x="12496800" y="0"/>
                </a:lnTo>
                <a:lnTo>
                  <a:pt x="12496800" y="1262743"/>
                </a:lnTo>
                <a:lnTo>
                  <a:pt x="1524000" y="126274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3.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데이터 분석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(1) </a:t>
            </a:r>
            <a:r>
              <a:rPr lang="ko-KR" altLang="en-US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데이터 </a:t>
            </a:r>
            <a:r>
              <a:rPr lang="ko-KR" altLang="en-US" sz="4000" dirty="0" err="1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전처리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BBB9-70CA-6F19-0A95-5084C102EE10}"/>
              </a:ext>
            </a:extLst>
          </p:cNvPr>
          <p:cNvSpPr txBox="1"/>
          <p:nvPr/>
        </p:nvSpPr>
        <p:spPr>
          <a:xfrm>
            <a:off x="11888606" y="6504952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3926D0-F547-EC4A-5846-C6194C12C08A}"/>
              </a:ext>
            </a:extLst>
          </p:cNvPr>
          <p:cNvSpPr txBox="1"/>
          <p:nvPr/>
        </p:nvSpPr>
        <p:spPr>
          <a:xfrm>
            <a:off x="2151017" y="1208774"/>
            <a:ext cx="2929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2023 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국민여행조사 데이터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F943BA-2A51-45D6-2C6B-9A1FEAE5C1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36"/>
          <a:stretch/>
        </p:blipFill>
        <p:spPr>
          <a:xfrm>
            <a:off x="169618" y="860641"/>
            <a:ext cx="1801290" cy="1030329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14E7603-A9B1-2D55-71A7-F31166A7A97E}"/>
              </a:ext>
            </a:extLst>
          </p:cNvPr>
          <p:cNvSpPr/>
          <p:nvPr/>
        </p:nvSpPr>
        <p:spPr>
          <a:xfrm>
            <a:off x="803007" y="2684678"/>
            <a:ext cx="3144147" cy="37556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EE5A48-1688-A4CB-E927-87D27AE6BF2E}"/>
              </a:ext>
            </a:extLst>
          </p:cNvPr>
          <p:cNvSpPr txBox="1"/>
          <p:nvPr/>
        </p:nvSpPr>
        <p:spPr>
          <a:xfrm>
            <a:off x="491340" y="1976212"/>
            <a:ext cx="3733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만족도 </a:t>
            </a:r>
            <a:r>
              <a:rPr lang="ko-KR" altLang="en-US" sz="20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결측치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제거</a:t>
            </a:r>
            <a:endParaRPr lang="en-US" altLang="ko-KR" sz="2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만족도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(A10)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가 존재하지 않는 데이터 제거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9D4A47E-9B08-421B-A742-6E3248FA4B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5008"/>
          <a:stretch/>
        </p:blipFill>
        <p:spPr>
          <a:xfrm>
            <a:off x="1122357" y="3417601"/>
            <a:ext cx="2535645" cy="78466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89C33D0-EF1E-464D-530A-032FE130B0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258"/>
          <a:stretch/>
        </p:blipFill>
        <p:spPr>
          <a:xfrm>
            <a:off x="1122358" y="4802184"/>
            <a:ext cx="2535645" cy="8849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E7DAFDA-8577-A89C-6900-B05300A7E2FE}"/>
              </a:ext>
            </a:extLst>
          </p:cNvPr>
          <p:cNvSpPr txBox="1"/>
          <p:nvPr/>
        </p:nvSpPr>
        <p:spPr>
          <a:xfrm>
            <a:off x="1122357" y="3040522"/>
            <a:ext cx="253564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전처리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48FDD8-EA87-5065-FE71-95D5C27683B4}"/>
              </a:ext>
            </a:extLst>
          </p:cNvPr>
          <p:cNvSpPr txBox="1"/>
          <p:nvPr/>
        </p:nvSpPr>
        <p:spPr>
          <a:xfrm>
            <a:off x="1122356" y="4492110"/>
            <a:ext cx="253564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전처리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후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3E67E63-45EA-1DCC-8541-5BD97777251B}"/>
              </a:ext>
            </a:extLst>
          </p:cNvPr>
          <p:cNvCxnSpPr/>
          <p:nvPr/>
        </p:nvCxnSpPr>
        <p:spPr>
          <a:xfrm>
            <a:off x="2358197" y="4202265"/>
            <a:ext cx="0" cy="289845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B763A32-3DE0-B9B2-1055-B881975824EF}"/>
              </a:ext>
            </a:extLst>
          </p:cNvPr>
          <p:cNvSpPr txBox="1"/>
          <p:nvPr/>
        </p:nvSpPr>
        <p:spPr>
          <a:xfrm>
            <a:off x="1651914" y="5759606"/>
            <a:ext cx="1412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총 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27,829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</a:t>
            </a:r>
            <a:endParaRPr lang="en-US" altLang="ko-KR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행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삭제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FF1A1D6-82B4-E297-6D4A-9E6F6DFF65B1}"/>
              </a:ext>
            </a:extLst>
          </p:cNvPr>
          <p:cNvCxnSpPr>
            <a:cxnSpLocks/>
          </p:cNvCxnSpPr>
          <p:nvPr/>
        </p:nvCxnSpPr>
        <p:spPr>
          <a:xfrm>
            <a:off x="4648200" y="1869031"/>
            <a:ext cx="0" cy="471425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4AE5331-B7E1-0D19-166F-78D0DAD528B0}"/>
              </a:ext>
            </a:extLst>
          </p:cNvPr>
          <p:cNvSpPr/>
          <p:nvPr/>
        </p:nvSpPr>
        <p:spPr>
          <a:xfrm>
            <a:off x="5355558" y="2670846"/>
            <a:ext cx="6115282" cy="37556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89850B-E5F8-570B-0FFB-FE7CBD03D4D0}"/>
              </a:ext>
            </a:extLst>
          </p:cNvPr>
          <p:cNvSpPr txBox="1"/>
          <p:nvPr/>
        </p:nvSpPr>
        <p:spPr>
          <a:xfrm>
            <a:off x="6902346" y="1992218"/>
            <a:ext cx="29979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방문지역 변수 생성</a:t>
            </a:r>
            <a:endParaRPr lang="en-US" altLang="ko-KR" sz="2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두 지역 이상 방문한 데이터 삭제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533F56-0C4F-4EA3-3930-E1C44691C666}"/>
              </a:ext>
            </a:extLst>
          </p:cNvPr>
          <p:cNvSpPr txBox="1"/>
          <p:nvPr/>
        </p:nvSpPr>
        <p:spPr>
          <a:xfrm>
            <a:off x="5443549" y="2991483"/>
            <a:ext cx="6027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D_TRA_1~6_1~17_SPOT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여행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1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차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~6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차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1~17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번째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방문지역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9707A9-A706-7F3D-831A-D6270CD514AE}"/>
              </a:ext>
            </a:extLst>
          </p:cNvPr>
          <p:cNvSpPr txBox="1"/>
          <p:nvPr/>
        </p:nvSpPr>
        <p:spPr>
          <a:xfrm>
            <a:off x="5443549" y="3346945"/>
            <a:ext cx="5164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①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각 행의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지역코드 </a:t>
            </a:r>
            <a:r>
              <a:rPr lang="ko-KR" altLang="en-US" dirty="0" err="1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최빈값</a:t>
            </a:r>
            <a:r>
              <a:rPr lang="ko-KR" altLang="en-US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을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대입한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‘spot‘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변수 생성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8729DF-F5D9-F19C-75C8-751C529AA906}"/>
              </a:ext>
            </a:extLst>
          </p:cNvPr>
          <p:cNvSpPr txBox="1"/>
          <p:nvPr/>
        </p:nvSpPr>
        <p:spPr>
          <a:xfrm>
            <a:off x="5435185" y="3717829"/>
            <a:ext cx="5164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②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 지역만 여행한 데이터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추출 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→ 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4,092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 행 삭제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3EE632-DADF-307B-D6D2-EBA5783E91F4}"/>
              </a:ext>
            </a:extLst>
          </p:cNvPr>
          <p:cNvSpPr txBox="1"/>
          <p:nvPr/>
        </p:nvSpPr>
        <p:spPr>
          <a:xfrm>
            <a:off x="5446523" y="4073757"/>
            <a:ext cx="5164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③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지역코드에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한글지역명 매핑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</a:t>
            </a:r>
            <a:r>
              <a:rPr lang="en-US" altLang="ko-KR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ko_spot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변수 생성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FD0E80-79DE-EFAA-49A4-5F70E7862F21}"/>
              </a:ext>
            </a:extLst>
          </p:cNvPr>
          <p:cNvSpPr txBox="1"/>
          <p:nvPr/>
        </p:nvSpPr>
        <p:spPr>
          <a:xfrm>
            <a:off x="5467916" y="5257682"/>
            <a:ext cx="2815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최종 </a:t>
            </a:r>
            <a:r>
              <a:rPr lang="en-US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‘</a:t>
            </a:r>
            <a:r>
              <a: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방문 지역</a:t>
            </a:r>
            <a:r>
              <a:rPr lang="en-US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</a:t>
            </a:r>
            <a:r>
              <a: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변수 </a:t>
            </a:r>
            <a:r>
              <a:rPr lang="en-US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</a:t>
            </a:r>
            <a:r>
              <a:rPr lang="en-US" altLang="ko-KR" sz="1600" dirty="0" err="1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ko_spot</a:t>
            </a:r>
            <a:endParaRPr lang="ko-KR" altLang="en-US" sz="1600" dirty="0">
              <a:solidFill>
                <a:schemeClr val="accent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B685A901-72BC-2EAC-0101-5EB209FCAA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60" y="2722375"/>
            <a:ext cx="401196" cy="401196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7493DF2-2FE3-8F08-05D4-5E5FC9CF4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7318" y="2662359"/>
            <a:ext cx="401196" cy="401196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B7075037-5121-40F2-624D-E195EE31848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7895" b="28826"/>
          <a:stretch/>
        </p:blipFill>
        <p:spPr>
          <a:xfrm>
            <a:off x="8365754" y="4573496"/>
            <a:ext cx="778246" cy="1751592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DA758906-5B4C-7455-E584-EFE18CC771C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991" b="28826"/>
          <a:stretch/>
        </p:blipFill>
        <p:spPr>
          <a:xfrm>
            <a:off x="9614047" y="4563135"/>
            <a:ext cx="1600105" cy="1751592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53" name="이등변 삼각형 52">
            <a:extLst>
              <a:ext uri="{FF2B5EF4-FFF2-40B4-BE49-F238E27FC236}">
                <a16:creationId xmlns:a16="http://schemas.microsoft.com/office/drawing/2014/main" id="{85F7A188-CFB1-B740-7DF0-16443719480E}"/>
              </a:ext>
            </a:extLst>
          </p:cNvPr>
          <p:cNvSpPr/>
          <p:nvPr/>
        </p:nvSpPr>
        <p:spPr>
          <a:xfrm rot="5400000">
            <a:off x="9159767" y="5299260"/>
            <a:ext cx="432407" cy="300064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589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8">
            <a:extLst>
              <a:ext uri="{FF2B5EF4-FFF2-40B4-BE49-F238E27FC236}">
                <a16:creationId xmlns:a16="http://schemas.microsoft.com/office/drawing/2014/main" id="{CBD3EC38-4B73-173D-BE8F-08EDB78A67C8}"/>
              </a:ext>
            </a:extLst>
          </p:cNvPr>
          <p:cNvSpPr/>
          <p:nvPr/>
        </p:nvSpPr>
        <p:spPr>
          <a:xfrm>
            <a:off x="0" y="1"/>
            <a:ext cx="124968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800" h="1262743">
                <a:moveTo>
                  <a:pt x="0" y="0"/>
                </a:moveTo>
                <a:lnTo>
                  <a:pt x="12496800" y="0"/>
                </a:lnTo>
                <a:lnTo>
                  <a:pt x="12496800" y="1262743"/>
                </a:lnTo>
                <a:lnTo>
                  <a:pt x="1524000" y="126274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A22FC8-DF0F-8554-FCDF-2A3D5025B49C}"/>
              </a:ext>
            </a:extLst>
          </p:cNvPr>
          <p:cNvSpPr/>
          <p:nvPr/>
        </p:nvSpPr>
        <p:spPr>
          <a:xfrm>
            <a:off x="230238" y="1490561"/>
            <a:ext cx="11718988" cy="7525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3.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데이터 분석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(2) </a:t>
            </a:r>
            <a:r>
              <a:rPr lang="ko-KR" altLang="en-US" sz="4000" dirty="0" err="1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공간군집분석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BBB9-70CA-6F19-0A95-5084C102EE10}"/>
              </a:ext>
            </a:extLst>
          </p:cNvPr>
          <p:cNvSpPr txBox="1"/>
          <p:nvPr/>
        </p:nvSpPr>
        <p:spPr>
          <a:xfrm>
            <a:off x="11888606" y="6504952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7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9A79DD-D616-BAE1-BC2F-13B46DCF5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18" y="830998"/>
            <a:ext cx="1801290" cy="634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3926D0-F547-EC4A-5846-C6194C12C08A}"/>
              </a:ext>
            </a:extLst>
          </p:cNvPr>
          <p:cNvSpPr txBox="1"/>
          <p:nvPr/>
        </p:nvSpPr>
        <p:spPr>
          <a:xfrm>
            <a:off x="1970908" y="973424"/>
            <a:ext cx="3974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2023 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 활성화지수 데이터 </a:t>
            </a:r>
            <a:r>
              <a:rPr lang="ko-KR" altLang="en-US" sz="20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전처리</a:t>
            </a:r>
            <a:endParaRPr lang="ko-KR" altLang="en-US" sz="2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3DA8E6-9DD4-0FA8-1582-C555167E94C8}"/>
              </a:ext>
            </a:extLst>
          </p:cNvPr>
          <p:cNvSpPr txBox="1"/>
          <p:nvPr/>
        </p:nvSpPr>
        <p:spPr>
          <a:xfrm>
            <a:off x="385518" y="1678707"/>
            <a:ext cx="2654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 활성화 지수</a:t>
            </a:r>
            <a:r>
              <a:rPr lang="ko-KR" altLang="en-US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란</a:t>
            </a:r>
            <a:r>
              <a:rPr lang="en-US" altLang="ko-KR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?</a:t>
            </a:r>
            <a:endParaRPr lang="ko-KR" altLang="en-US" sz="2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0FBABE-CFCA-4965-EE87-8685EC6390A5}"/>
              </a:ext>
            </a:extLst>
          </p:cNvPr>
          <p:cNvSpPr txBox="1"/>
          <p:nvPr/>
        </p:nvSpPr>
        <p:spPr>
          <a:xfrm>
            <a:off x="2998113" y="1571407"/>
            <a:ext cx="8816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0" i="0" dirty="0" err="1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관광빅데이터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신용카드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이동통신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내비게이션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r>
              <a:rPr lang="ko-KR" altLang="en-US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활용</a:t>
            </a:r>
            <a:r>
              <a:rPr lang="en-US" altLang="ko-KR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시군구별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방문객의 관광관련 활동을 통해 </a:t>
            </a:r>
            <a:endParaRPr lang="en-US" altLang="ko-KR" b="0" i="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관광산업이 얼마나 원활하게 유지되고 성과로 이어지는지 보여주는 지수</a:t>
            </a:r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EC73B5F-6535-A0BD-A6C2-D049C2EBC0A5}"/>
              </a:ext>
            </a:extLst>
          </p:cNvPr>
          <p:cNvSpPr/>
          <p:nvPr/>
        </p:nvSpPr>
        <p:spPr>
          <a:xfrm>
            <a:off x="415636" y="3234994"/>
            <a:ext cx="11319164" cy="347060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2398CE-27F6-D776-BC8E-1EA4070269B3}"/>
              </a:ext>
            </a:extLst>
          </p:cNvPr>
          <p:cNvSpPr txBox="1"/>
          <p:nvPr/>
        </p:nvSpPr>
        <p:spPr>
          <a:xfrm>
            <a:off x="2112934" y="2496330"/>
            <a:ext cx="766427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시군구</a:t>
            </a:r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통합</a:t>
            </a:r>
            <a:endParaRPr lang="en-US" altLang="ko-KR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국민여행조사 지역 기준과 통일하기 위해 일부 하위 행정구를 </a:t>
            </a:r>
            <a:r>
              <a:rPr lang="ko-KR" altLang="en-US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기초지자체로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통합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6D594F-960A-AA8C-8326-7B3A6C22B1B0}"/>
              </a:ext>
            </a:extLst>
          </p:cNvPr>
          <p:cNvSpPr txBox="1"/>
          <p:nvPr/>
        </p:nvSpPr>
        <p:spPr>
          <a:xfrm>
            <a:off x="866141" y="5785685"/>
            <a:ext cx="4703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→ 안산시 단원구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안산시 상록구를 안산시로 통합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6A6EFEC-5A2A-693F-BEE2-A17C3E733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326" y="4282430"/>
            <a:ext cx="2857899" cy="428685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D34BB6A1-8A3C-39C0-8263-86DB4859F0DC}"/>
              </a:ext>
            </a:extLst>
          </p:cNvPr>
          <p:cNvSpPr/>
          <p:nvPr/>
        </p:nvSpPr>
        <p:spPr>
          <a:xfrm>
            <a:off x="1017326" y="3871804"/>
            <a:ext cx="1671897" cy="37288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한국관광 </a:t>
            </a:r>
            <a:r>
              <a:rPr lang="ko-KR" altLang="en-US" sz="1600" dirty="0" err="1">
                <a:solidFill>
                  <a:schemeClr val="tx2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데이터랩</a:t>
            </a:r>
            <a:endParaRPr lang="ko-KR" altLang="en-US" sz="1600" dirty="0">
              <a:solidFill>
                <a:schemeClr val="tx2">
                  <a:lumMod val="50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9E3348B-B8F6-122D-ABE8-8F2991F44991}"/>
              </a:ext>
            </a:extLst>
          </p:cNvPr>
          <p:cNvSpPr/>
          <p:nvPr/>
        </p:nvSpPr>
        <p:spPr>
          <a:xfrm>
            <a:off x="1017325" y="4939060"/>
            <a:ext cx="728923" cy="37288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2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코드북</a:t>
            </a:r>
            <a:endParaRPr lang="ko-KR" altLang="en-US" sz="1600" dirty="0">
              <a:solidFill>
                <a:schemeClr val="tx2">
                  <a:lumMod val="50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C924FF7-9C24-4E9E-2D75-6C723FD8F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325" y="5405486"/>
            <a:ext cx="4401164" cy="1905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DFC0AA2-88DA-48B9-B252-23CEF2EB5DF0}"/>
              </a:ext>
            </a:extLst>
          </p:cNvPr>
          <p:cNvSpPr txBox="1"/>
          <p:nvPr/>
        </p:nvSpPr>
        <p:spPr>
          <a:xfrm>
            <a:off x="6342742" y="3707720"/>
            <a:ext cx="5043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하위 </a:t>
            </a:r>
            <a:r>
              <a:rPr lang="ko-KR" altLang="en-US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행정구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별 방문객 수 비율을 이용한 가중평균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6B130ED8-82A5-2FB3-715B-9721A4750F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228" y="4132953"/>
            <a:ext cx="5101815" cy="1147624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4D0736A-9857-4EDF-D68C-881EEB8539A4}"/>
              </a:ext>
            </a:extLst>
          </p:cNvPr>
          <p:cNvSpPr txBox="1"/>
          <p:nvPr/>
        </p:nvSpPr>
        <p:spPr>
          <a:xfrm>
            <a:off x="7282294" y="5508686"/>
            <a:ext cx="30011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안산시 활성화 지수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= 37.3 * 0.35 + 77.1 * 0.65</a:t>
            </a:r>
          </a:p>
          <a:p>
            <a:pPr algn="ctr"/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= 63.1 (%)</a:t>
            </a:r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779F7F-E7F5-DC8D-E650-B8B38FB02667}"/>
              </a:ext>
            </a:extLst>
          </p:cNvPr>
          <p:cNvSpPr txBox="1"/>
          <p:nvPr/>
        </p:nvSpPr>
        <p:spPr>
          <a:xfrm>
            <a:off x="928886" y="3415177"/>
            <a:ext cx="1848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ex)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경기도 안산시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CDC941-F085-A98C-32CF-0004D835FA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588" y="3062688"/>
            <a:ext cx="586823" cy="586823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67E3956-4692-EB20-1586-3CCC279B59B0}"/>
              </a:ext>
            </a:extLst>
          </p:cNvPr>
          <p:cNvCxnSpPr>
            <a:cxnSpLocks/>
            <a:stCxn id="13" idx="0"/>
          </p:cNvCxnSpPr>
          <p:nvPr/>
        </p:nvCxnSpPr>
        <p:spPr>
          <a:xfrm>
            <a:off x="6075218" y="3234994"/>
            <a:ext cx="14514" cy="347060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92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8">
            <a:extLst>
              <a:ext uri="{FF2B5EF4-FFF2-40B4-BE49-F238E27FC236}">
                <a16:creationId xmlns:a16="http://schemas.microsoft.com/office/drawing/2014/main" id="{B1369904-E224-C48B-C799-DCF28AD91433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6110B82-0D75-4816-BCBF-EB8277003C6F}"/>
              </a:ext>
            </a:extLst>
          </p:cNvPr>
          <p:cNvSpPr/>
          <p:nvPr/>
        </p:nvSpPr>
        <p:spPr>
          <a:xfrm>
            <a:off x="66377" y="2290150"/>
            <a:ext cx="12056506" cy="452336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5E049156-5CAB-1A6E-761F-F438361863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09"/>
          <a:stretch/>
        </p:blipFill>
        <p:spPr bwMode="auto">
          <a:xfrm>
            <a:off x="463243" y="2949760"/>
            <a:ext cx="4325596" cy="345356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3.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데이터 분석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(2) </a:t>
            </a:r>
            <a:r>
              <a:rPr lang="ko-KR" altLang="en-US" sz="4000" dirty="0" err="1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공간군집분석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8D41B-B5D8-3909-F4E0-EF732908E858}"/>
              </a:ext>
            </a:extLst>
          </p:cNvPr>
          <p:cNvSpPr txBox="1"/>
          <p:nvPr/>
        </p:nvSpPr>
        <p:spPr>
          <a:xfrm>
            <a:off x="11888606" y="6504952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64835-422D-8117-B198-8BA2E08CEA5E}"/>
              </a:ext>
            </a:extLst>
          </p:cNvPr>
          <p:cNvSpPr txBox="1"/>
          <p:nvPr/>
        </p:nvSpPr>
        <p:spPr>
          <a:xfrm>
            <a:off x="136185" y="886688"/>
            <a:ext cx="5832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국지적 모란 지수</a:t>
            </a:r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(Local Moran’s I) </a:t>
            </a:r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분석이란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?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D656E-3785-FAF0-FA5E-7E3EF5756708}"/>
              </a:ext>
            </a:extLst>
          </p:cNvPr>
          <p:cNvSpPr txBox="1"/>
          <p:nvPr/>
        </p:nvSpPr>
        <p:spPr>
          <a:xfrm>
            <a:off x="65314" y="1312703"/>
            <a:ext cx="92833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전체 공간에서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특정 지역과 그 주변 지역을 비교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하여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현저하게 차이가 나는 지역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을 찾아내는 방법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통계량이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높은 양의 값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 나올 경우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지역 간 유사성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 있음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모란 </a:t>
            </a:r>
            <a:r>
              <a:rPr lang="ko-KR" altLang="en-US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산점도를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통해 공간적 연관성을 네 가지로 분류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B8BFE-1C2A-39E5-DB26-4E7F7E690190}"/>
              </a:ext>
            </a:extLst>
          </p:cNvPr>
          <p:cNvSpPr txBox="1"/>
          <p:nvPr/>
        </p:nvSpPr>
        <p:spPr>
          <a:xfrm>
            <a:off x="1802761" y="2453287"/>
            <a:ext cx="140615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[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모란 </a:t>
            </a:r>
            <a:r>
              <a:rPr lang="ko-KR" altLang="en-US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산점도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]</a:t>
            </a:r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441AB0-2ED3-ED57-46B6-C7925D88D099}"/>
              </a:ext>
            </a:extLst>
          </p:cNvPr>
          <p:cNvSpPr txBox="1"/>
          <p:nvPr/>
        </p:nvSpPr>
        <p:spPr>
          <a:xfrm>
            <a:off x="2212213" y="6489610"/>
            <a:ext cx="86433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데이터 값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A584FD-A624-232F-5B31-6237C7224982}"/>
              </a:ext>
            </a:extLst>
          </p:cNvPr>
          <p:cNvSpPr txBox="1"/>
          <p:nvPr/>
        </p:nvSpPr>
        <p:spPr>
          <a:xfrm>
            <a:off x="63133" y="3908240"/>
            <a:ext cx="400110" cy="1272144"/>
          </a:xfrm>
          <a:prstGeom prst="rect">
            <a:avLst/>
          </a:prstGeom>
          <a:noFill/>
        </p:spPr>
        <p:txBody>
          <a:bodyPr vert="eaVert" wrap="none" rtlCol="0" anchor="ctr">
            <a:spAutoFit/>
          </a:bodyPr>
          <a:lstStyle/>
          <a:p>
            <a:pPr algn="ctr"/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공간적 지연 값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0A22CC-0443-484D-176A-402D89CF227C}"/>
              </a:ext>
            </a:extLst>
          </p:cNvPr>
          <p:cNvSpPr txBox="1"/>
          <p:nvPr/>
        </p:nvSpPr>
        <p:spPr>
          <a:xfrm>
            <a:off x="5338025" y="2689604"/>
            <a:ext cx="6009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</a:t>
            </a:r>
            <a:r>
              <a:rPr lang="ko-KR" altLang="en-US" dirty="0">
                <a:solidFill>
                  <a:srgbClr val="FF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회귀선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X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축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데이터 값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과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Y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축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공간적 지연 값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간의 선형 관계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lvl="1" algn="ctr"/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기울기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공간적 자기 상관의 정도 표현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A1CBD3-0BBF-762D-82AA-A2D774014882}"/>
              </a:ext>
            </a:extLst>
          </p:cNvPr>
          <p:cNvSpPr txBox="1"/>
          <p:nvPr/>
        </p:nvSpPr>
        <p:spPr>
          <a:xfrm>
            <a:off x="6135520" y="3561865"/>
            <a:ext cx="4414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HH : </a:t>
            </a:r>
            <a:r>
              <a:rPr lang="ko-KR" altLang="en-US" sz="2000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높은 값 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주변의 </a:t>
            </a:r>
            <a:r>
              <a:rPr lang="ko-KR" altLang="en-US" sz="2000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높은 값 → 핫스팟</a:t>
            </a:r>
            <a:endParaRPr lang="en-US" altLang="ko-KR" sz="2000" dirty="0">
              <a:solidFill>
                <a:srgbClr val="FF00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LL : </a:t>
            </a:r>
            <a:r>
              <a:rPr lang="ko-KR" altLang="en-US" sz="2000" dirty="0">
                <a:solidFill>
                  <a:srgbClr val="0070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낮은 값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주변의 </a:t>
            </a:r>
            <a:r>
              <a:rPr lang="ko-KR" altLang="en-US" sz="2000" dirty="0">
                <a:solidFill>
                  <a:srgbClr val="0070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낮은 값 → </a:t>
            </a:r>
            <a:r>
              <a:rPr lang="ko-KR" altLang="en-US" sz="2000" dirty="0" err="1">
                <a:solidFill>
                  <a:srgbClr val="0070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콜드스팟</a:t>
            </a:r>
            <a:endParaRPr lang="en-US" altLang="ko-KR" sz="2000" dirty="0">
              <a:solidFill>
                <a:srgbClr val="0070C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61F446-DD3B-E053-B61D-F552665317C1}"/>
              </a:ext>
            </a:extLst>
          </p:cNvPr>
          <p:cNvSpPr txBox="1"/>
          <p:nvPr/>
        </p:nvSpPr>
        <p:spPr>
          <a:xfrm>
            <a:off x="1069909" y="2863478"/>
            <a:ext cx="126326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각 축의 평균</a:t>
            </a:r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0DD156ED-021F-8EDE-2E50-2E7C18545377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82402" y="3083531"/>
            <a:ext cx="274212" cy="172660"/>
          </a:xfrm>
          <a:prstGeom prst="curvedConnector3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AB190025-49C8-2198-E3C9-78FB25E2D45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62130" y="3877583"/>
            <a:ext cx="1430100" cy="78998"/>
          </a:xfrm>
          <a:prstGeom prst="curvedConnector3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9F843EA-AAA8-E10D-5F85-45E5BEE8C801}"/>
              </a:ext>
            </a:extLst>
          </p:cNvPr>
          <p:cNvSpPr txBox="1"/>
          <p:nvPr/>
        </p:nvSpPr>
        <p:spPr>
          <a:xfrm>
            <a:off x="5570584" y="5384972"/>
            <a:ext cx="577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▶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KNN(K-Nearest Neighbors)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방식으로 공간 가중치 부여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1FB372A-2774-3E1E-F5CB-C0AA52E50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970" y="5923964"/>
            <a:ext cx="4760682" cy="48754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BB3D133-3075-A5E7-417F-B17303D90A5C}"/>
              </a:ext>
            </a:extLst>
          </p:cNvPr>
          <p:cNvSpPr txBox="1"/>
          <p:nvPr/>
        </p:nvSpPr>
        <p:spPr>
          <a:xfrm>
            <a:off x="5178375" y="4640426"/>
            <a:ext cx="521385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p-value &gt; 0.05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이상인 지역 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통계적 유의성을 만족하지 않음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E2BA5905-C790-67FB-3692-C9C0793EE684}"/>
              </a:ext>
            </a:extLst>
          </p:cNvPr>
          <p:cNvSpPr/>
          <p:nvPr/>
        </p:nvSpPr>
        <p:spPr>
          <a:xfrm>
            <a:off x="2626041" y="4118262"/>
            <a:ext cx="2049995" cy="867144"/>
          </a:xfrm>
          <a:prstGeom prst="ellipse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572AA3F7-8ECD-7ED8-32F5-1BA6B8E7C490}"/>
              </a:ext>
            </a:extLst>
          </p:cNvPr>
          <p:cNvCxnSpPr>
            <a:cxnSpLocks/>
            <a:stCxn id="33" idx="6"/>
            <a:endCxn id="32" idx="1"/>
          </p:cNvCxnSpPr>
          <p:nvPr/>
        </p:nvCxnSpPr>
        <p:spPr>
          <a:xfrm>
            <a:off x="4676036" y="4551834"/>
            <a:ext cx="502339" cy="257869"/>
          </a:xfrm>
          <a:prstGeom prst="curvedConnector3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그림 40">
            <a:extLst>
              <a:ext uri="{FF2B5EF4-FFF2-40B4-BE49-F238E27FC236}">
                <a16:creationId xmlns:a16="http://schemas.microsoft.com/office/drawing/2014/main" id="{BBDB4A55-683C-381A-1391-4AC6531F4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9637" y="5979796"/>
            <a:ext cx="369333" cy="36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50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16C159E-7D19-A06B-0EA7-32A5D55FA3EE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3.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데이터 분석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(2) </a:t>
            </a:r>
            <a:r>
              <a:rPr lang="ko-KR" altLang="en-US" sz="4000" dirty="0" err="1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공간군집분석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BBB9-70CA-6F19-0A95-5084C102EE10}"/>
              </a:ext>
            </a:extLst>
          </p:cNvPr>
          <p:cNvSpPr txBox="1"/>
          <p:nvPr/>
        </p:nvSpPr>
        <p:spPr>
          <a:xfrm>
            <a:off x="11889512" y="6504952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9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059F2B1-AD55-A42C-D23F-2738C5993573}"/>
              </a:ext>
            </a:extLst>
          </p:cNvPr>
          <p:cNvGrpSpPr/>
          <p:nvPr/>
        </p:nvGrpSpPr>
        <p:grpSpPr>
          <a:xfrm>
            <a:off x="422463" y="1414144"/>
            <a:ext cx="4888867" cy="4958380"/>
            <a:chOff x="6228287" y="1104622"/>
            <a:chExt cx="4508916" cy="4573034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E4D5757D-1A15-E361-887A-E479CF7F8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8287" y="1531096"/>
              <a:ext cx="4508916" cy="4146560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0" name="Picture 8">
              <a:extLst>
                <a:ext uri="{FF2B5EF4-FFF2-40B4-BE49-F238E27FC236}">
                  <a16:creationId xmlns:a16="http://schemas.microsoft.com/office/drawing/2014/main" id="{C246E213-6D5C-62CE-FAF8-18CB7AEA66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005" b="83670"/>
            <a:stretch/>
          </p:blipFill>
          <p:spPr bwMode="auto">
            <a:xfrm>
              <a:off x="9251714" y="1104622"/>
              <a:ext cx="1408863" cy="8425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C0BB4F7-FC30-FD4A-9481-23D1158AF34D}"/>
                </a:ext>
              </a:extLst>
            </p:cNvPr>
            <p:cNvSpPr/>
            <p:nvPr/>
          </p:nvSpPr>
          <p:spPr>
            <a:xfrm>
              <a:off x="9360418" y="1306206"/>
              <a:ext cx="1128712" cy="557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F543EF3-FC94-848F-FA6F-4F36B059ACCE}"/>
                </a:ext>
              </a:extLst>
            </p:cNvPr>
            <p:cNvSpPr/>
            <p:nvPr/>
          </p:nvSpPr>
          <p:spPr>
            <a:xfrm>
              <a:off x="9484241" y="1396692"/>
              <a:ext cx="133349" cy="13334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C6221B3-E004-6C68-C605-34AF55A719A7}"/>
                </a:ext>
              </a:extLst>
            </p:cNvPr>
            <p:cNvSpPr/>
            <p:nvPr/>
          </p:nvSpPr>
          <p:spPr>
            <a:xfrm>
              <a:off x="9484241" y="1661013"/>
              <a:ext cx="133349" cy="13334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11495B2-1DFF-351C-2FE9-0CB8A80F04B1}"/>
                </a:ext>
              </a:extLst>
            </p:cNvPr>
            <p:cNvSpPr txBox="1"/>
            <p:nvPr/>
          </p:nvSpPr>
          <p:spPr>
            <a:xfrm>
              <a:off x="9639739" y="1360530"/>
              <a:ext cx="7409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1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Hot Spot</a:t>
              </a:r>
              <a:endParaRPr lang="ko-KR" altLang="en-US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C14EA1-BECB-2CF1-78EB-6EE273845881}"/>
                </a:ext>
              </a:extLst>
            </p:cNvPr>
            <p:cNvSpPr txBox="1"/>
            <p:nvPr/>
          </p:nvSpPr>
          <p:spPr>
            <a:xfrm>
              <a:off x="9589999" y="1625469"/>
              <a:ext cx="79541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1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Cold Spot</a:t>
              </a:r>
              <a:endParaRPr lang="ko-KR" altLang="en-US" sz="11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F281CC7-ADAC-8F68-056D-236D2FEFF0D0}"/>
              </a:ext>
            </a:extLst>
          </p:cNvPr>
          <p:cNvSpPr txBox="1"/>
          <p:nvPr/>
        </p:nvSpPr>
        <p:spPr>
          <a:xfrm>
            <a:off x="1011107" y="1162172"/>
            <a:ext cx="3132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활성화지수 </a:t>
            </a:r>
            <a:r>
              <a:rPr lang="ko-KR" altLang="en-US" sz="20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콜드스팟</a:t>
            </a:r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&amp;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핫스팟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FF316A5-A3DB-C894-9272-4CE87654F2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744"/>
          <a:stretch/>
        </p:blipFill>
        <p:spPr>
          <a:xfrm>
            <a:off x="5734112" y="1193562"/>
            <a:ext cx="3132590" cy="488922"/>
          </a:xfrm>
          <a:prstGeom prst="rect">
            <a:avLst/>
          </a:prstGeom>
          <a:ln w="12700">
            <a:noFill/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3A09595-C2E2-8E5E-75B5-CB2B1CB101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6309"/>
          <a:stretch/>
        </p:blipFill>
        <p:spPr>
          <a:xfrm>
            <a:off x="5719598" y="1769322"/>
            <a:ext cx="5981712" cy="606347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D34A28-CF6C-C80B-2FD3-9D57AFF14505}"/>
              </a:ext>
            </a:extLst>
          </p:cNvPr>
          <p:cNvSpPr/>
          <p:nvPr/>
        </p:nvSpPr>
        <p:spPr>
          <a:xfrm>
            <a:off x="5415362" y="1104542"/>
            <a:ext cx="6289300" cy="1367590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7628D6-7D62-DE86-E148-1E67A24FC866}"/>
              </a:ext>
            </a:extLst>
          </p:cNvPr>
          <p:cNvSpPr txBox="1"/>
          <p:nvPr/>
        </p:nvSpPr>
        <p:spPr>
          <a:xfrm>
            <a:off x="5453606" y="2557678"/>
            <a:ext cx="625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유의수준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5%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하에서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통계적 유의성을 만족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하는 지역 수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54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CF505588-7279-4530-3FFA-014EF9747FD4}"/>
              </a:ext>
            </a:extLst>
          </p:cNvPr>
          <p:cNvGraphicFramePr>
            <a:graphicFrameLocks noGrp="1"/>
          </p:cNvGraphicFramePr>
          <p:nvPr/>
        </p:nvGraphicFramePr>
        <p:xfrm>
          <a:off x="5415361" y="2934114"/>
          <a:ext cx="6289300" cy="3255378"/>
        </p:xfrm>
        <a:graphic>
          <a:graphicData uri="http://schemas.openxmlformats.org/drawingml/2006/table">
            <a:tbl>
              <a:tblPr firstRow="1" bandRow="1">
                <a:solidFill>
                  <a:srgbClr val="FF9393"/>
                </a:solidFill>
                <a:tableStyleId>{5C22544A-7EE6-4342-B048-85BDC9FD1C3A}</a:tableStyleId>
              </a:tblPr>
              <a:tblGrid>
                <a:gridCol w="550633">
                  <a:extLst>
                    <a:ext uri="{9D8B030D-6E8A-4147-A177-3AD203B41FA5}">
                      <a16:colId xmlns:a16="http://schemas.microsoft.com/office/drawing/2014/main" val="3028444486"/>
                    </a:ext>
                  </a:extLst>
                </a:gridCol>
                <a:gridCol w="594163">
                  <a:extLst>
                    <a:ext uri="{9D8B030D-6E8A-4147-A177-3AD203B41FA5}">
                      <a16:colId xmlns:a16="http://schemas.microsoft.com/office/drawing/2014/main" val="4205034015"/>
                    </a:ext>
                  </a:extLst>
                </a:gridCol>
                <a:gridCol w="5144504">
                  <a:extLst>
                    <a:ext uri="{9D8B030D-6E8A-4147-A177-3AD203B41FA5}">
                      <a16:colId xmlns:a16="http://schemas.microsoft.com/office/drawing/2014/main" val="3114326306"/>
                    </a:ext>
                  </a:extLst>
                </a:gridCol>
              </a:tblGrid>
              <a:tr h="34301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핫</a:t>
                      </a:r>
                      <a:endParaRPr lang="en-US" altLang="ko-KR" sz="1600" b="0" dirty="0">
                        <a:solidFill>
                          <a:srgbClr val="FF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600" b="0" dirty="0" err="1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스</a:t>
                      </a:r>
                      <a:endParaRPr lang="en-US" altLang="ko-KR" sz="1600" b="0" dirty="0">
                        <a:solidFill>
                          <a:srgbClr val="FF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600" b="0" dirty="0" err="1">
                          <a:solidFill>
                            <a:srgbClr val="FF0000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팟</a:t>
                      </a:r>
                      <a:endParaRPr lang="ko-KR" altLang="en-US" sz="1600" b="0" dirty="0">
                        <a:solidFill>
                          <a:srgbClr val="FF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서울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종로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중구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용산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성동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광진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성북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은평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서대문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마포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양천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강서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영등포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동작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강남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송파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강동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87709"/>
                  </a:ext>
                </a:extLst>
              </a:tr>
              <a:tr h="343010">
                <a:tc vMerge="1">
                  <a:txBody>
                    <a:bodyPr/>
                    <a:lstStyle/>
                    <a:p>
                      <a:pPr latinLnBrk="1"/>
                      <a:endParaRPr lang="ko-KR" altLang="en-US" sz="1700" b="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marL="84578" marR="84578" marT="42289" marB="42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대구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동구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294657"/>
                  </a:ext>
                </a:extLst>
              </a:tr>
              <a:tr h="343010">
                <a:tc vMerge="1">
                  <a:txBody>
                    <a:bodyPr/>
                    <a:lstStyle/>
                    <a:p>
                      <a:pPr latinLnBrk="1"/>
                      <a:endParaRPr lang="ko-KR" altLang="en-US" sz="1700" b="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marL="84578" marR="84578" marT="42289" marB="42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인천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남동구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737354"/>
                  </a:ext>
                </a:extLst>
              </a:tr>
              <a:tr h="343010">
                <a:tc vMerge="1">
                  <a:txBody>
                    <a:bodyPr/>
                    <a:lstStyle/>
                    <a:p>
                      <a:pPr latinLnBrk="1"/>
                      <a:endParaRPr lang="ko-KR" altLang="en-US" sz="1700" b="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marL="84578" marR="84578" marT="42289" marB="42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경기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부천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광주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가평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고양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성남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014203"/>
                  </a:ext>
                </a:extLst>
              </a:tr>
              <a:tr h="34301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콜</a:t>
                      </a:r>
                      <a:endParaRPr lang="en-US" altLang="ko-KR" sz="16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6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드</a:t>
                      </a:r>
                      <a:endParaRPr lang="en-US" altLang="ko-KR" sz="16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6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스</a:t>
                      </a:r>
                      <a:endParaRPr lang="en-US" altLang="ko-KR" sz="16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6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팟</a:t>
                      </a:r>
                      <a:endParaRPr lang="ko-KR" altLang="en-US" sz="16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84578" marR="84578" marT="42289" marB="42289"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충남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보령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53262"/>
                  </a:ext>
                </a:extLst>
              </a:tr>
              <a:tr h="34301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700" b="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marL="84578" marR="84578" marT="42289" marB="42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전북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정읍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남원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진안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무주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장수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74488"/>
                  </a:ext>
                </a:extLst>
              </a:tr>
              <a:tr h="34301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700" b="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marL="84578" marR="84578" marT="42289" marB="42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전남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구례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보성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장흥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강진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영광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완도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778646"/>
                  </a:ext>
                </a:extLst>
              </a:tr>
              <a:tr h="34301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700" b="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marL="84578" marR="84578" marT="42289" marB="42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경북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안동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영주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문경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영양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봉화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울진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174909"/>
                  </a:ext>
                </a:extLst>
              </a:tr>
              <a:tr h="34301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700" b="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marL="84578" marR="84578" marT="42289" marB="42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경남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의령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함양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거창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합천</a:t>
                      </a:r>
                    </a:p>
                  </a:txBody>
                  <a:tcPr marL="84578" marR="84578" marT="42289" marB="422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141571"/>
                  </a:ext>
                </a:extLst>
              </a:tr>
            </a:tbl>
          </a:graphicData>
        </a:graphic>
      </p:graphicFrame>
      <p:sp>
        <p:nvSpPr>
          <p:cNvPr id="28" name="화살표: 위로 굽음 27">
            <a:extLst>
              <a:ext uri="{FF2B5EF4-FFF2-40B4-BE49-F238E27FC236}">
                <a16:creationId xmlns:a16="http://schemas.microsoft.com/office/drawing/2014/main" id="{B2499F53-670D-2DE0-D11E-52F488332F09}"/>
              </a:ext>
            </a:extLst>
          </p:cNvPr>
          <p:cNvSpPr/>
          <p:nvPr/>
        </p:nvSpPr>
        <p:spPr>
          <a:xfrm rot="5400000">
            <a:off x="6011987" y="5850322"/>
            <a:ext cx="323963" cy="1002303"/>
          </a:xfrm>
          <a:prstGeom prst="bentUp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D399C6-AB7E-A407-68BA-1B84BB627B1B}"/>
              </a:ext>
            </a:extLst>
          </p:cNvPr>
          <p:cNvSpPr txBox="1"/>
          <p:nvPr/>
        </p:nvSpPr>
        <p:spPr>
          <a:xfrm>
            <a:off x="6675120" y="6268406"/>
            <a:ext cx="2127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관광 활성화가 필요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69C66F-B73C-20C1-F959-EDD201107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1329" y="995839"/>
            <a:ext cx="369333" cy="36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81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8">
            <a:extLst>
              <a:ext uri="{FF2B5EF4-FFF2-40B4-BE49-F238E27FC236}">
                <a16:creationId xmlns:a16="http://schemas.microsoft.com/office/drawing/2014/main" id="{E5386F83-9FBA-5BD4-FFFD-5CA2732CA4D8}"/>
              </a:ext>
            </a:extLst>
          </p:cNvPr>
          <p:cNvSpPr/>
          <p:nvPr/>
        </p:nvSpPr>
        <p:spPr>
          <a:xfrm>
            <a:off x="0" y="1"/>
            <a:ext cx="124968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800" h="1262743">
                <a:moveTo>
                  <a:pt x="0" y="0"/>
                </a:moveTo>
                <a:lnTo>
                  <a:pt x="12496800" y="0"/>
                </a:lnTo>
                <a:lnTo>
                  <a:pt x="12496800" y="1262743"/>
                </a:lnTo>
                <a:lnTo>
                  <a:pt x="1524000" y="126274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3.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데이터 분석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(3) </a:t>
            </a:r>
            <a:r>
              <a:rPr lang="ko-KR" altLang="en-US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분류분석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BBB9-70CA-6F19-0A95-5084C102EE10}"/>
              </a:ext>
            </a:extLst>
          </p:cNvPr>
          <p:cNvSpPr txBox="1"/>
          <p:nvPr/>
        </p:nvSpPr>
        <p:spPr>
          <a:xfrm>
            <a:off x="11781926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10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3926D0-F547-EC4A-5846-C6194C12C08A}"/>
              </a:ext>
            </a:extLst>
          </p:cNvPr>
          <p:cNvSpPr txBox="1"/>
          <p:nvPr/>
        </p:nvSpPr>
        <p:spPr>
          <a:xfrm>
            <a:off x="154887" y="927240"/>
            <a:ext cx="2929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2023 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국민여행조사 데이터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CCCBA7E-006B-BDCA-D51F-BB45C594493B}"/>
              </a:ext>
            </a:extLst>
          </p:cNvPr>
          <p:cNvSpPr/>
          <p:nvPr/>
        </p:nvSpPr>
        <p:spPr>
          <a:xfrm>
            <a:off x="764827" y="1995956"/>
            <a:ext cx="4593715" cy="467827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C12B2F-580A-CCEB-7706-A2C7581313D0}"/>
              </a:ext>
            </a:extLst>
          </p:cNvPr>
          <p:cNvSpPr txBox="1"/>
          <p:nvPr/>
        </p:nvSpPr>
        <p:spPr>
          <a:xfrm>
            <a:off x="1478488" y="1570876"/>
            <a:ext cx="3166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 총합 지출 비용 변수 생성</a:t>
            </a:r>
            <a:endParaRPr lang="en-US" altLang="ko-KR" sz="2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EA180ACC-BCDF-F658-A975-253FD216B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74923"/>
              </p:ext>
            </p:extLst>
          </p:nvPr>
        </p:nvGraphicFramePr>
        <p:xfrm>
          <a:off x="1311384" y="2411688"/>
          <a:ext cx="3500462" cy="18288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031117">
                  <a:extLst>
                    <a:ext uri="{9D8B030D-6E8A-4147-A177-3AD203B41FA5}">
                      <a16:colId xmlns:a16="http://schemas.microsoft.com/office/drawing/2014/main" val="3991463026"/>
                    </a:ext>
                  </a:extLst>
                </a:gridCol>
                <a:gridCol w="2469345">
                  <a:extLst>
                    <a:ext uri="{9D8B030D-6E8A-4147-A177-3AD203B41FA5}">
                      <a16:colId xmlns:a16="http://schemas.microsoft.com/office/drawing/2014/main" val="1610801579"/>
                    </a:ext>
                  </a:extLst>
                </a:gridCol>
              </a:tblGrid>
              <a:tr h="2670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변수명</a:t>
                      </a:r>
                      <a:endParaRPr lang="ko-KR" altLang="en-US" sz="1400" b="0" dirty="0"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923932"/>
                  </a:ext>
                </a:extLst>
              </a:tr>
              <a:tr h="267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NA9C</a:t>
                      </a:r>
                      <a:endParaRPr lang="ko-KR" altLang="en-US" sz="140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</a:t>
                      </a:r>
                      <a:r>
                        <a:rPr lang="ko-KR" altLang="en-US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인 숙박비 총액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7445900"/>
                  </a:ext>
                </a:extLst>
              </a:tr>
              <a:tr h="267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NA9D</a:t>
                      </a:r>
                      <a:endParaRPr lang="ko-KR" altLang="en-US" sz="140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</a:t>
                      </a:r>
                      <a:r>
                        <a:rPr lang="ko-KR" altLang="en-US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인 음식점비 총액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797692"/>
                  </a:ext>
                </a:extLst>
              </a:tr>
              <a:tr h="267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NA9E</a:t>
                      </a:r>
                      <a:endParaRPr lang="ko-KR" altLang="en-US" sz="140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</a:t>
                      </a:r>
                      <a:r>
                        <a:rPr lang="ko-KR" altLang="en-US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인 식음료비 총액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7205"/>
                  </a:ext>
                </a:extLst>
              </a:tr>
              <a:tr h="267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NA9G</a:t>
                      </a:r>
                      <a:endParaRPr lang="ko-KR" altLang="en-US" sz="140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</a:t>
                      </a:r>
                      <a:r>
                        <a:rPr lang="ko-KR" altLang="en-US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인 여행활동비 총액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6963774"/>
                  </a:ext>
                </a:extLst>
              </a:tr>
              <a:tr h="267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NA9H</a:t>
                      </a:r>
                      <a:endParaRPr lang="ko-KR" altLang="en-US" sz="140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</a:t>
                      </a:r>
                      <a:r>
                        <a:rPr lang="ko-KR" altLang="en-US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인 </a:t>
                      </a:r>
                      <a:r>
                        <a:rPr lang="ko-KR" altLang="en-US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쇼핑비</a:t>
                      </a:r>
                      <a:r>
                        <a:rPr lang="ko-KR" altLang="en-US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총액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120565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685F11-98B5-FAE2-ECF6-D94954898295}"/>
              </a:ext>
            </a:extLst>
          </p:cNvPr>
          <p:cNvSpPr txBox="1"/>
          <p:nvPr/>
        </p:nvSpPr>
        <p:spPr>
          <a:xfrm>
            <a:off x="2195031" y="2089990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사용한 비용 변수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51AF417-7EED-AD77-F59B-FCEEECA83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181" y="4882495"/>
            <a:ext cx="2264079" cy="1545324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4725FD1-33EE-C80B-FF5A-83BF582F789A}"/>
              </a:ext>
            </a:extLst>
          </p:cNvPr>
          <p:cNvSpPr txBox="1"/>
          <p:nvPr/>
        </p:nvSpPr>
        <p:spPr>
          <a:xfrm>
            <a:off x="764827" y="4444103"/>
            <a:ext cx="459371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 총합 지출 비용 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=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비용의 총합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83AD6C51-4756-2192-FF19-57E3DAB43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284" y="4890678"/>
            <a:ext cx="487011" cy="1545324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39" name="이등변 삼각형 38">
            <a:extLst>
              <a:ext uri="{FF2B5EF4-FFF2-40B4-BE49-F238E27FC236}">
                <a16:creationId xmlns:a16="http://schemas.microsoft.com/office/drawing/2014/main" id="{3CF83D0B-2DDF-7DF6-4BA9-5E394B34D54E}"/>
              </a:ext>
            </a:extLst>
          </p:cNvPr>
          <p:cNvSpPr/>
          <p:nvPr/>
        </p:nvSpPr>
        <p:spPr>
          <a:xfrm rot="5400000">
            <a:off x="3682312" y="5571600"/>
            <a:ext cx="631811" cy="24933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DF3A0E79-9872-B447-EC99-7FC431ED7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6" y="1930775"/>
            <a:ext cx="461665" cy="4616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C5FD5A-20C8-21A5-BEBF-C4AD0D3EC736}"/>
              </a:ext>
            </a:extLst>
          </p:cNvPr>
          <p:cNvSpPr txBox="1"/>
          <p:nvPr/>
        </p:nvSpPr>
        <p:spPr>
          <a:xfrm>
            <a:off x="3707106" y="968693"/>
            <a:ext cx="4291559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분류분석을 위한 추가적인 </a:t>
            </a:r>
            <a:r>
              <a:rPr lang="ko-KR" altLang="en-US" sz="2400" dirty="0" err="1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전처리</a:t>
            </a:r>
            <a:endParaRPr lang="ko-KR" altLang="en-US" sz="2400" dirty="0">
              <a:solidFill>
                <a:schemeClr val="accent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A9347E6-D1F5-1664-368D-5F5B8AF9663D}"/>
              </a:ext>
            </a:extLst>
          </p:cNvPr>
          <p:cNvGrpSpPr/>
          <p:nvPr/>
        </p:nvGrpSpPr>
        <p:grpSpPr>
          <a:xfrm>
            <a:off x="6242050" y="1646594"/>
            <a:ext cx="5128561" cy="5027635"/>
            <a:chOff x="6412832" y="1881391"/>
            <a:chExt cx="5128561" cy="5027635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48C45E23-30F3-BEE2-F4A3-06961BBEED0C}"/>
                </a:ext>
              </a:extLst>
            </p:cNvPr>
            <p:cNvSpPr/>
            <p:nvPr/>
          </p:nvSpPr>
          <p:spPr>
            <a:xfrm>
              <a:off x="6550276" y="2288438"/>
              <a:ext cx="4991117" cy="462058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7E6ACC-C60B-975F-95B0-197C6C96F15B}"/>
                </a:ext>
              </a:extLst>
            </p:cNvPr>
            <p:cNvSpPr txBox="1"/>
            <p:nvPr/>
          </p:nvSpPr>
          <p:spPr>
            <a:xfrm>
              <a:off x="7755143" y="1881391"/>
              <a:ext cx="24224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‘</a:t>
              </a:r>
              <a:r>
                <a:rPr lang="ko-KR" altLang="en-US" sz="20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여행 일 수</a:t>
              </a:r>
              <a:r>
                <a:rPr lang="en-US" altLang="ko-KR" sz="20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‘ </a:t>
              </a:r>
              <a:r>
                <a:rPr lang="ko-KR" altLang="en-US" sz="20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변수 생성</a:t>
              </a:r>
              <a:endPara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89A1944-E64C-76C3-0A65-3E0527154B38}"/>
                </a:ext>
              </a:extLst>
            </p:cNvPr>
            <p:cNvSpPr txBox="1"/>
            <p:nvPr/>
          </p:nvSpPr>
          <p:spPr>
            <a:xfrm>
              <a:off x="6886426" y="2508888"/>
              <a:ext cx="4318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D_TRA1~6_S_Day</a:t>
              </a:r>
              <a:r>
                <a:rPr lang="en-US" altLang="ko-KR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: </a:t>
              </a:r>
              <a:r>
                <a:rPr lang="ko-KR" altLang="en-US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여행 </a:t>
              </a:r>
              <a:r>
                <a:rPr lang="en-US" altLang="ko-KR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1</a:t>
              </a:r>
              <a:r>
                <a:rPr lang="ko-KR" altLang="en-US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차</a:t>
              </a:r>
              <a:r>
                <a:rPr lang="en-US" altLang="ko-KR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~6</a:t>
              </a:r>
              <a:r>
                <a:rPr lang="ko-KR" altLang="en-US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차 </a:t>
              </a:r>
              <a:r>
                <a:rPr lang="ko-KR" altLang="en-US" dirty="0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숙박일수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770A38-9240-829F-AEA6-2065C6F2CB0E}"/>
                </a:ext>
              </a:extLst>
            </p:cNvPr>
            <p:cNvSpPr txBox="1"/>
            <p:nvPr/>
          </p:nvSpPr>
          <p:spPr>
            <a:xfrm>
              <a:off x="6550276" y="2954023"/>
              <a:ext cx="49911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여행 일 수 </a:t>
              </a:r>
              <a:r>
                <a:rPr lang="en-US" altLang="ko-KR" sz="20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= </a:t>
              </a:r>
              <a:r>
                <a:rPr lang="ko-KR" altLang="en-US" sz="20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숙박 일 수 </a:t>
              </a:r>
              <a:r>
                <a:rPr lang="en-US" altLang="ko-KR" sz="20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+ 1 </a:t>
              </a:r>
              <a:endPara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CAB84EF6-3750-CE86-3CD3-F85F29C31717}"/>
                </a:ext>
              </a:extLst>
            </p:cNvPr>
            <p:cNvSpPr/>
            <p:nvPr/>
          </p:nvSpPr>
          <p:spPr>
            <a:xfrm rot="10800000">
              <a:off x="8807801" y="4850168"/>
              <a:ext cx="598800" cy="23631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E0584090-4DCC-1DC8-9DE6-3457B4F0F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12832" y="2275745"/>
              <a:ext cx="473594" cy="473594"/>
            </a:xfrm>
            <a:prstGeom prst="rect">
              <a:avLst/>
            </a:prstGeom>
          </p:spPr>
        </p:pic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C4BBBA73-168F-FC98-5725-01196080B7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104" y="3308350"/>
            <a:ext cx="4318811" cy="1224519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1400FEE-23ED-72B7-04DF-285E17B81E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0129" y="4935427"/>
            <a:ext cx="752580" cy="1638529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DCB3576-6F87-03E8-859D-9BBB8F2F26F4}"/>
              </a:ext>
            </a:extLst>
          </p:cNvPr>
          <p:cNvCxnSpPr>
            <a:cxnSpLocks/>
          </p:cNvCxnSpPr>
          <p:nvPr/>
        </p:nvCxnSpPr>
        <p:spPr>
          <a:xfrm>
            <a:off x="5852886" y="1859704"/>
            <a:ext cx="0" cy="471425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380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4632D67-C1F1-716E-CA3E-C2BABC5FD1B9}"/>
              </a:ext>
            </a:extLst>
          </p:cNvPr>
          <p:cNvSpPr/>
          <p:nvPr/>
        </p:nvSpPr>
        <p:spPr>
          <a:xfrm>
            <a:off x="224970" y="1405148"/>
            <a:ext cx="11771087" cy="52423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2E4097-26D5-8C04-3496-512A99DC6903}"/>
              </a:ext>
            </a:extLst>
          </p:cNvPr>
          <p:cNvSpPr/>
          <p:nvPr/>
        </p:nvSpPr>
        <p:spPr>
          <a:xfrm>
            <a:off x="6964740" y="4234353"/>
            <a:ext cx="4084228" cy="258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6C159E-7D19-A06B-0EA7-32A5D55FA3EE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3.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데이터 분석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(3) </a:t>
            </a:r>
            <a:r>
              <a:rPr lang="ko-KR" altLang="en-US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분류분석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BBB9-70CA-6F19-0A95-5084C102EE10}"/>
              </a:ext>
            </a:extLst>
          </p:cNvPr>
          <p:cNvSpPr txBox="1"/>
          <p:nvPr/>
        </p:nvSpPr>
        <p:spPr>
          <a:xfrm>
            <a:off x="11773400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11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3B2B3E-41E3-A79E-11BF-85BDBEBC0611}"/>
              </a:ext>
            </a:extLst>
          </p:cNvPr>
          <p:cNvSpPr txBox="1"/>
          <p:nvPr/>
        </p:nvSpPr>
        <p:spPr>
          <a:xfrm>
            <a:off x="3872651" y="889054"/>
            <a:ext cx="4738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지출 비용 및 만족도에 따른 지역 분류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0F09E-F8FE-1088-4635-201EAB2994C5}"/>
              </a:ext>
            </a:extLst>
          </p:cNvPr>
          <p:cNvSpPr txBox="1"/>
          <p:nvPr/>
        </p:nvSpPr>
        <p:spPr>
          <a:xfrm>
            <a:off x="-12700" y="1485108"/>
            <a:ext cx="12201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지역별 </a:t>
            </a:r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 </a:t>
            </a:r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일 총합 지출 비용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650479B-D38D-6EDC-B477-8088987F550A}"/>
              </a:ext>
            </a:extLst>
          </p:cNvPr>
          <p:cNvCxnSpPr>
            <a:cxnSpLocks/>
          </p:cNvCxnSpPr>
          <p:nvPr/>
        </p:nvCxnSpPr>
        <p:spPr>
          <a:xfrm>
            <a:off x="6131090" y="2008328"/>
            <a:ext cx="0" cy="463921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249AA02-1C72-6EAA-3116-B289F7229D91}"/>
              </a:ext>
            </a:extLst>
          </p:cNvPr>
          <p:cNvSpPr txBox="1"/>
          <p:nvPr/>
        </p:nvSpPr>
        <p:spPr>
          <a:xfrm>
            <a:off x="425613" y="2146347"/>
            <a:ext cx="3945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①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IQR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방식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으로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지역별 비용 이상치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제거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34AE6260-AF9C-A6F1-6C3F-4ABF4F1EB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13" y="2553779"/>
            <a:ext cx="5449465" cy="229767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92AEBA2-6F25-098E-C556-2BC418CA0F30}"/>
              </a:ext>
            </a:extLst>
          </p:cNvPr>
          <p:cNvSpPr txBox="1"/>
          <p:nvPr/>
        </p:nvSpPr>
        <p:spPr>
          <a:xfrm>
            <a:off x="425613" y="5137819"/>
            <a:ext cx="53399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②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 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일 지출 비용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(= 1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인 지출 비용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총 여행 일 수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변수 생성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20515F94-41FA-874A-E08F-ADA751867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13" y="5782676"/>
            <a:ext cx="5474864" cy="271598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4AD3888-8C85-1E44-E1CB-E51327BA2EC6}"/>
              </a:ext>
            </a:extLst>
          </p:cNvPr>
          <p:cNvSpPr txBox="1"/>
          <p:nvPr/>
        </p:nvSpPr>
        <p:spPr>
          <a:xfrm>
            <a:off x="6220789" y="2146347"/>
            <a:ext cx="3220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③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지역별 비용의 가중 평균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도출 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BAD299D-79F6-4330-7348-4334DC246E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4742" y="4405969"/>
            <a:ext cx="4084228" cy="2098983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9608D4AF-0F7E-D58F-C18C-402C4CD59DFE}"/>
              </a:ext>
            </a:extLst>
          </p:cNvPr>
          <p:cNvSpPr/>
          <p:nvPr/>
        </p:nvSpPr>
        <p:spPr>
          <a:xfrm>
            <a:off x="9830942" y="4403360"/>
            <a:ext cx="1218028" cy="20989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35F073-0A89-AE65-EDBC-C96952F138EF}"/>
              </a:ext>
            </a:extLst>
          </p:cNvPr>
          <p:cNvSpPr txBox="1"/>
          <p:nvPr/>
        </p:nvSpPr>
        <p:spPr>
          <a:xfrm>
            <a:off x="9325384" y="4215121"/>
            <a:ext cx="5741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데이터 수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F60652-A1E6-9580-A66E-81C54E8504CC}"/>
              </a:ext>
            </a:extLst>
          </p:cNvPr>
          <p:cNvSpPr txBox="1"/>
          <p:nvPr/>
        </p:nvSpPr>
        <p:spPr>
          <a:xfrm>
            <a:off x="10028308" y="4213952"/>
            <a:ext cx="7841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비용 가중 평균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95754-A9A7-7672-206C-69F2E79D7143}"/>
              </a:ext>
            </a:extLst>
          </p:cNvPr>
          <p:cNvSpPr txBox="1"/>
          <p:nvPr/>
        </p:nvSpPr>
        <p:spPr>
          <a:xfrm>
            <a:off x="6295390" y="2562702"/>
            <a:ext cx="553116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r>
              <a:rPr lang="ko-KR" altLang="en-US" sz="11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가중 평균 계산 코드 일부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045B9467-E90D-E957-5AFC-89330931E8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992" y="2828825"/>
            <a:ext cx="5531163" cy="1277995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611326-C502-ABAC-93EA-5A7ECFE129CA}"/>
              </a:ext>
            </a:extLst>
          </p:cNvPr>
          <p:cNvSpPr txBox="1"/>
          <p:nvPr/>
        </p:nvSpPr>
        <p:spPr>
          <a:xfrm>
            <a:off x="8594988" y="4215303"/>
            <a:ext cx="4539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지역명</a:t>
            </a:r>
            <a:endParaRPr lang="ko-KR" altLang="en-US" sz="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EFADE71-E52F-16C4-A7B1-E081D38EC6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970" y="1283811"/>
            <a:ext cx="651462" cy="65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478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4632D67-C1F1-716E-CA3E-C2BABC5FD1B9}"/>
              </a:ext>
            </a:extLst>
          </p:cNvPr>
          <p:cNvSpPr/>
          <p:nvPr/>
        </p:nvSpPr>
        <p:spPr>
          <a:xfrm>
            <a:off x="173088" y="1417848"/>
            <a:ext cx="11834427" cy="52423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CA350AD-B4EA-652B-5D9C-D060B0B80B55}"/>
              </a:ext>
            </a:extLst>
          </p:cNvPr>
          <p:cNvSpPr/>
          <p:nvPr/>
        </p:nvSpPr>
        <p:spPr>
          <a:xfrm>
            <a:off x="1509486" y="2489564"/>
            <a:ext cx="3062685" cy="36790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6C159E-7D19-A06B-0EA7-32A5D55FA3EE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3.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데이터 분석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(3) </a:t>
            </a:r>
            <a:r>
              <a:rPr lang="ko-KR" altLang="en-US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분류분석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BBB9-70CA-6F19-0A95-5084C102EE10}"/>
              </a:ext>
            </a:extLst>
          </p:cNvPr>
          <p:cNvSpPr txBox="1"/>
          <p:nvPr/>
        </p:nvSpPr>
        <p:spPr>
          <a:xfrm>
            <a:off x="11773400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12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3B2B3E-41E3-A79E-11BF-85BDBEBC0611}"/>
              </a:ext>
            </a:extLst>
          </p:cNvPr>
          <p:cNvSpPr txBox="1"/>
          <p:nvPr/>
        </p:nvSpPr>
        <p:spPr>
          <a:xfrm>
            <a:off x="3872651" y="889054"/>
            <a:ext cx="4738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지출 비용 및 만족도에 따른 지역 분류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0F09E-F8FE-1088-4635-201EAB2994C5}"/>
              </a:ext>
            </a:extLst>
          </p:cNvPr>
          <p:cNvSpPr txBox="1"/>
          <p:nvPr/>
        </p:nvSpPr>
        <p:spPr>
          <a:xfrm>
            <a:off x="-12699" y="1494048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지역별 만족도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50FF660-1601-5915-7459-24A69E53E65A}"/>
              </a:ext>
            </a:extLst>
          </p:cNvPr>
          <p:cNvGrpSpPr/>
          <p:nvPr/>
        </p:nvGrpSpPr>
        <p:grpSpPr>
          <a:xfrm>
            <a:off x="4572171" y="2011018"/>
            <a:ext cx="7043153" cy="4479465"/>
            <a:chOff x="-1192664" y="1938327"/>
            <a:chExt cx="7043153" cy="447946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249AA02-1C72-6EAA-3116-B289F7229D91}"/>
                </a:ext>
              </a:extLst>
            </p:cNvPr>
            <p:cNvSpPr txBox="1"/>
            <p:nvPr/>
          </p:nvSpPr>
          <p:spPr>
            <a:xfrm>
              <a:off x="-1192664" y="1938327"/>
              <a:ext cx="3018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· </a:t>
              </a:r>
              <a:r>
                <a:rPr lang="ko-KR" altLang="en-US" dirty="0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지역별 만족도 가중 평균</a:t>
              </a:r>
              <a:r>
                <a:rPr lang="ko-KR" altLang="en-US" dirty="0">
                  <a:solidFill>
                    <a:schemeClr val="accent1">
                      <a:lumMod val="50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</a:t>
              </a:r>
              <a:r>
                <a:rPr lang="ko-KR" altLang="en-US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도출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665A4D-6F1B-DCFB-BB5D-89523DCD5FF6}"/>
                </a:ext>
              </a:extLst>
            </p:cNvPr>
            <p:cNvSpPr txBox="1"/>
            <p:nvPr/>
          </p:nvSpPr>
          <p:spPr>
            <a:xfrm>
              <a:off x="319328" y="2416873"/>
              <a:ext cx="5531161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r>
                <a:rPr lang="ko-KR" altLang="en-US" sz="11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가중 평균 계산 코드 일부</a:t>
              </a: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07D945C-AE61-2F3A-AAD2-E277C283C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6724" y="2678483"/>
              <a:ext cx="5531161" cy="1542706"/>
            </a:xfrm>
            <a:prstGeom prst="rect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55E0C2F-4D7A-986C-569F-9A86D36F7DF3}"/>
                </a:ext>
              </a:extLst>
            </p:cNvPr>
            <p:cNvSpPr/>
            <p:nvPr/>
          </p:nvSpPr>
          <p:spPr>
            <a:xfrm>
              <a:off x="1271003" y="4346062"/>
              <a:ext cx="3534268" cy="2589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8AB1968-3B20-909E-14C9-F026F95094BC}"/>
                </a:ext>
              </a:extLst>
            </p:cNvPr>
            <p:cNvSpPr txBox="1"/>
            <p:nvPr/>
          </p:nvSpPr>
          <p:spPr>
            <a:xfrm>
              <a:off x="3457237" y="4326830"/>
              <a:ext cx="57419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데이터 수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CF11A6B-29F7-8608-E0DA-3F4EC7D38AAC}"/>
                </a:ext>
              </a:extLst>
            </p:cNvPr>
            <p:cNvSpPr txBox="1"/>
            <p:nvPr/>
          </p:nvSpPr>
          <p:spPr>
            <a:xfrm>
              <a:off x="3931561" y="4325661"/>
              <a:ext cx="87395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만족도 </a:t>
              </a:r>
              <a:r>
                <a:rPr lang="ko-KR" altLang="en-US" sz="8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가중 평균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1FBE1BA-5902-99CA-0F88-2AF38C3BB93E}"/>
                </a:ext>
              </a:extLst>
            </p:cNvPr>
            <p:cNvSpPr txBox="1"/>
            <p:nvPr/>
          </p:nvSpPr>
          <p:spPr>
            <a:xfrm>
              <a:off x="2787801" y="4327012"/>
              <a:ext cx="4539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지역명</a:t>
              </a:r>
              <a:endPara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7B8C60-2602-3320-144C-DFE2A70D8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1003" y="4541105"/>
              <a:ext cx="3534268" cy="1876687"/>
            </a:xfrm>
            <a:prstGeom prst="rect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</p:pic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9D82F6F-6D0D-2CDA-1BEE-A836189655B0}"/>
                </a:ext>
              </a:extLst>
            </p:cNvPr>
            <p:cNvSpPr/>
            <p:nvPr/>
          </p:nvSpPr>
          <p:spPr>
            <a:xfrm>
              <a:off x="3932695" y="4515069"/>
              <a:ext cx="875951" cy="19027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C0DFC17A-F5FC-871C-B41F-72373AE34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970" y="1299051"/>
            <a:ext cx="651462" cy="65146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5DDA0F3-9086-5A84-8283-1A63797A7994}"/>
              </a:ext>
            </a:extLst>
          </p:cNvPr>
          <p:cNvSpPr txBox="1"/>
          <p:nvPr/>
        </p:nvSpPr>
        <p:spPr>
          <a:xfrm>
            <a:off x="1762884" y="2827632"/>
            <a:ext cx="2573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※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대부분의 응답이 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4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점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5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점 </a:t>
            </a:r>
            <a:endParaRPr lang="en-US" altLang="ko-KR" sz="16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→ 이상치가 존재하지 않음</a:t>
            </a:r>
            <a:endParaRPr lang="en-US" altLang="ko-KR" sz="16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23B9843-5F00-05E5-D7FC-0F2303BDA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0246" y="3494050"/>
            <a:ext cx="1235359" cy="240131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CFAABF83-704A-6CE4-8626-75E8040C8F0D}"/>
              </a:ext>
            </a:extLst>
          </p:cNvPr>
          <p:cNvSpPr/>
          <p:nvPr/>
        </p:nvSpPr>
        <p:spPr>
          <a:xfrm>
            <a:off x="2915606" y="5109030"/>
            <a:ext cx="640396" cy="7602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954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55F58D08-3378-28EF-4A60-7512B1912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8" t="8998" r="243" b="8099"/>
          <a:stretch/>
        </p:blipFill>
        <p:spPr bwMode="auto">
          <a:xfrm>
            <a:off x="580568" y="2095933"/>
            <a:ext cx="5066845" cy="3679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16C159E-7D19-A06B-0EA7-32A5D55FA3EE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3.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데이터 분석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(3) </a:t>
            </a:r>
            <a:r>
              <a:rPr lang="ko-KR" altLang="en-US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분류분석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BBB9-70CA-6F19-0A95-5084C102EE10}"/>
              </a:ext>
            </a:extLst>
          </p:cNvPr>
          <p:cNvSpPr txBox="1"/>
          <p:nvPr/>
        </p:nvSpPr>
        <p:spPr>
          <a:xfrm>
            <a:off x="11773400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13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1BCEA5F-AE7B-FF81-F74D-7D123F0E75B6}"/>
              </a:ext>
            </a:extLst>
          </p:cNvPr>
          <p:cNvGrpSpPr/>
          <p:nvPr/>
        </p:nvGrpSpPr>
        <p:grpSpPr>
          <a:xfrm>
            <a:off x="333827" y="1509485"/>
            <a:ext cx="5326739" cy="4563356"/>
            <a:chOff x="304799" y="1030514"/>
            <a:chExt cx="5326739" cy="456335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83B2B3E-41E3-A79E-11BF-85BDBEBC0611}"/>
                </a:ext>
              </a:extLst>
            </p:cNvPr>
            <p:cNvSpPr txBox="1"/>
            <p:nvPr/>
          </p:nvSpPr>
          <p:spPr>
            <a:xfrm>
              <a:off x="2177480" y="1226216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만족도</a:t>
              </a:r>
              <a:r>
                <a:rPr lang="en-US" altLang="ko-KR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&amp;</a:t>
              </a:r>
              <a:r>
                <a:rPr lang="ko-KR" altLang="en-US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비용 </a:t>
              </a:r>
              <a:r>
                <a:rPr lang="ko-KR" altLang="en-US" dirty="0" err="1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산점도</a:t>
              </a:r>
              <a:endPara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E2514A-15AE-47A5-4B63-47E760D59169}"/>
                </a:ext>
              </a:extLst>
            </p:cNvPr>
            <p:cNvSpPr txBox="1"/>
            <p:nvPr/>
          </p:nvSpPr>
          <p:spPr>
            <a:xfrm>
              <a:off x="2293257" y="5240802"/>
              <a:ext cx="185782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만족도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49F3D7-0CC9-CC0D-F6D4-40E854382DE0}"/>
                </a:ext>
              </a:extLst>
            </p:cNvPr>
            <p:cNvSpPr txBox="1"/>
            <p:nvPr/>
          </p:nvSpPr>
          <p:spPr>
            <a:xfrm rot="16200000">
              <a:off x="154930" y="3298369"/>
              <a:ext cx="677108" cy="290290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ko-KR" altLang="en-US" sz="160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비용</a:t>
              </a:r>
              <a:endPara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641098C-D8E1-921D-6FBC-5FAE42C36DF5}"/>
                </a:ext>
              </a:extLst>
            </p:cNvPr>
            <p:cNvSpPr/>
            <p:nvPr/>
          </p:nvSpPr>
          <p:spPr>
            <a:xfrm>
              <a:off x="304799" y="1030514"/>
              <a:ext cx="5326739" cy="4563356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D054E3A-DCCB-BCD0-5E3E-0C7D879342AF}"/>
              </a:ext>
            </a:extLst>
          </p:cNvPr>
          <p:cNvSpPr txBox="1"/>
          <p:nvPr/>
        </p:nvSpPr>
        <p:spPr>
          <a:xfrm>
            <a:off x="5776686" y="1871912"/>
            <a:ext cx="6081487" cy="14157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① 만족도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(X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축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  <a:p>
            <a:pPr algn="ctr"/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대부분의 응답이 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만족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(4)’, ‘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매우 만족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(5)’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으로 구성</a:t>
            </a:r>
            <a:endParaRPr lang="en-US" altLang="ko-KR" sz="16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→ 지역 간 편차가 크게 나타나지 않음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</a:t>
            </a:r>
          </a:p>
          <a:p>
            <a:pPr algn="ctr"/>
            <a:endParaRPr lang="en-US" altLang="ko-KR" sz="16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평균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기준으로 </a:t>
            </a:r>
            <a:r>
              <a:rPr lang="ko-KR" altLang="en-US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고만족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vs </a:t>
            </a:r>
            <a:r>
              <a:rPr lang="ko-KR" altLang="en-US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저만족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분류</a:t>
            </a:r>
            <a:endParaRPr lang="ko-KR" altLang="en-US" sz="16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CA2C3C-C6A8-BF5C-BBB2-12CDD2C51761}"/>
              </a:ext>
            </a:extLst>
          </p:cNvPr>
          <p:cNvSpPr txBox="1"/>
          <p:nvPr/>
        </p:nvSpPr>
        <p:spPr>
          <a:xfrm>
            <a:off x="5776686" y="3931844"/>
            <a:ext cx="6081487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② 비용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(Y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축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  <a:p>
            <a:pPr algn="ctr"/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높은 일부 지역을 제외하고 대부분 지역이</a:t>
            </a:r>
            <a:endParaRPr lang="en-US" altLang="ko-KR" sz="16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20,000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원 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~ 80,000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원 구간에 분포</a:t>
            </a:r>
            <a:endParaRPr lang="en-US" altLang="ko-KR" sz="16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endParaRPr lang="en-US" altLang="ko-KR" sz="16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분위 수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상위 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25%)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기준으로 고비용 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vs 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저비용 분류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17CE54-3579-3577-4AD7-14AE64BFE254}"/>
              </a:ext>
            </a:extLst>
          </p:cNvPr>
          <p:cNvSpPr txBox="1"/>
          <p:nvPr/>
        </p:nvSpPr>
        <p:spPr>
          <a:xfrm>
            <a:off x="3872651" y="889054"/>
            <a:ext cx="4738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지출 비용 및 만족도에 따른 지역 분류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0C77F6-6A2B-69EB-A041-824F2306EEF3}"/>
              </a:ext>
            </a:extLst>
          </p:cNvPr>
          <p:cNvSpPr txBox="1"/>
          <p:nvPr/>
        </p:nvSpPr>
        <p:spPr>
          <a:xfrm>
            <a:off x="5654737" y="6085381"/>
            <a:ext cx="653416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000" dirty="0" err="1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고만족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저비용 지역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대상으로 지역을 두 그룹으로 분류</a:t>
            </a:r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9B60CC9F-490D-275E-3B41-72E99AD01DE7}"/>
              </a:ext>
            </a:extLst>
          </p:cNvPr>
          <p:cNvCxnSpPr>
            <a:cxnSpLocks/>
            <a:stCxn id="21" idx="2"/>
            <a:endCxn id="4" idx="1"/>
          </p:cNvCxnSpPr>
          <p:nvPr/>
        </p:nvCxnSpPr>
        <p:spPr>
          <a:xfrm rot="16200000" flipH="1">
            <a:off x="4693587" y="5324286"/>
            <a:ext cx="695098" cy="1227202"/>
          </a:xfrm>
          <a:prstGeom prst="curvedConnector2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5E93A3-2038-5D90-679D-225ED13203E3}"/>
              </a:ext>
            </a:extLst>
          </p:cNvPr>
          <p:cNvSpPr/>
          <p:nvPr/>
        </p:nvSpPr>
        <p:spPr>
          <a:xfrm>
            <a:off x="3207657" y="4180113"/>
            <a:ext cx="2439756" cy="1410225"/>
          </a:xfrm>
          <a:prstGeom prst="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065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화살표: 위쪽 54">
            <a:extLst>
              <a:ext uri="{FF2B5EF4-FFF2-40B4-BE49-F238E27FC236}">
                <a16:creationId xmlns:a16="http://schemas.microsoft.com/office/drawing/2014/main" id="{A17C8F06-D67B-FAB4-1542-AE5321B958D2}"/>
              </a:ext>
            </a:extLst>
          </p:cNvPr>
          <p:cNvSpPr/>
          <p:nvPr/>
        </p:nvSpPr>
        <p:spPr>
          <a:xfrm rot="5400000">
            <a:off x="6011158" y="547226"/>
            <a:ext cx="155480" cy="11444201"/>
          </a:xfrm>
          <a:prstGeom prst="upArrow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6C159E-7D19-A06B-0EA7-32A5D55FA3EE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3.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데이터 분석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(3) </a:t>
            </a:r>
            <a:r>
              <a:rPr lang="ko-KR" altLang="en-US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분류분석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BBB9-70CA-6F19-0A95-5084C102EE10}"/>
              </a:ext>
            </a:extLst>
          </p:cNvPr>
          <p:cNvSpPr txBox="1"/>
          <p:nvPr/>
        </p:nvSpPr>
        <p:spPr>
          <a:xfrm>
            <a:off x="11773400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14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17CE54-3579-3577-4AD7-14AE64BFE254}"/>
              </a:ext>
            </a:extLst>
          </p:cNvPr>
          <p:cNvSpPr txBox="1"/>
          <p:nvPr/>
        </p:nvSpPr>
        <p:spPr>
          <a:xfrm>
            <a:off x="-12700" y="843763"/>
            <a:ext cx="1220469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지역 분류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E3DD933-937D-F8CF-36D2-73A9017AFC8B}"/>
              </a:ext>
            </a:extLst>
          </p:cNvPr>
          <p:cNvGrpSpPr/>
          <p:nvPr/>
        </p:nvGrpSpPr>
        <p:grpSpPr>
          <a:xfrm>
            <a:off x="323850" y="1441304"/>
            <a:ext cx="11544299" cy="4695150"/>
            <a:chOff x="6134100" y="4066240"/>
            <a:chExt cx="5572583" cy="1892301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61000">
                <a:schemeClr val="bg1">
                  <a:lumMod val="95000"/>
                </a:schemeClr>
              </a:gs>
            </a:gsLst>
            <a:path path="circle">
              <a:fillToRect t="100000" r="100000"/>
            </a:path>
            <a:tileRect l="-100000" b="-100000"/>
          </a:gradFill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EC4332D5-DF90-88CE-821F-CF858084E42C}"/>
                </a:ext>
              </a:extLst>
            </p:cNvPr>
            <p:cNvSpPr/>
            <p:nvPr/>
          </p:nvSpPr>
          <p:spPr>
            <a:xfrm>
              <a:off x="6134100" y="4066240"/>
              <a:ext cx="2743654" cy="1892301"/>
            </a:xfrm>
            <a:prstGeom prst="roundRect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r>
                <a:rPr lang="ko-KR" altLang="en-US" sz="2000" dirty="0" err="1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고만족</a:t>
              </a:r>
              <a:r>
                <a:rPr lang="ko-KR" altLang="en-US" sz="2000" dirty="0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 저비용</a:t>
              </a:r>
              <a:endPara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r>
                <a:rPr lang="en-US" altLang="ko-KR" sz="2000" dirty="0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+</a:t>
              </a:r>
            </a:p>
            <a:p>
              <a:pPr algn="ctr"/>
              <a:r>
                <a:rPr lang="ko-KR" altLang="en-US" sz="2000" dirty="0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활성화지수 </a:t>
              </a:r>
              <a:r>
                <a:rPr lang="ko-KR" altLang="en-US" sz="2000" dirty="0" err="1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콜드스팟</a:t>
              </a:r>
              <a:endPara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37A32E0-DD97-B824-C223-EF16F5DBE8A4}"/>
                </a:ext>
              </a:extLst>
            </p:cNvPr>
            <p:cNvSpPr/>
            <p:nvPr/>
          </p:nvSpPr>
          <p:spPr>
            <a:xfrm>
              <a:off x="8963029" y="4066240"/>
              <a:ext cx="2743654" cy="1892301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r>
                <a:rPr lang="ko-KR" altLang="en-US" sz="2000" dirty="0" err="1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고만족</a:t>
              </a:r>
              <a:r>
                <a:rPr lang="ko-KR" altLang="en-US" sz="2000" dirty="0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 저비용</a:t>
              </a:r>
              <a:endPara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r>
                <a:rPr lang="en-US" altLang="ko-KR" sz="2000" dirty="0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+</a:t>
              </a:r>
            </a:p>
            <a:p>
              <a:pPr algn="ctr"/>
              <a:r>
                <a:rPr lang="ko-KR" altLang="en-US" sz="2000" dirty="0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활성화지수 핫스팟</a:t>
              </a:r>
              <a:endPara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endPara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5DED0BE-E236-54C7-EE4E-E88034A06661}"/>
              </a:ext>
            </a:extLst>
          </p:cNvPr>
          <p:cNvSpPr txBox="1"/>
          <p:nvPr/>
        </p:nvSpPr>
        <p:spPr>
          <a:xfrm>
            <a:off x="-77353" y="6396335"/>
            <a:ext cx="6486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잠재적 관광 활성화 지역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8534547-52F0-E62B-D0CE-3239A6043601}"/>
              </a:ext>
            </a:extLst>
          </p:cNvPr>
          <p:cNvCxnSpPr>
            <a:cxnSpLocks/>
            <a:stCxn id="37" idx="2"/>
            <a:endCxn id="43" idx="0"/>
          </p:cNvCxnSpPr>
          <p:nvPr/>
        </p:nvCxnSpPr>
        <p:spPr>
          <a:xfrm flipH="1">
            <a:off x="3165760" y="6136454"/>
            <a:ext cx="1" cy="2598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화살표: 위쪽 52">
            <a:extLst>
              <a:ext uri="{FF2B5EF4-FFF2-40B4-BE49-F238E27FC236}">
                <a16:creationId xmlns:a16="http://schemas.microsoft.com/office/drawing/2014/main" id="{5E061C6C-BC33-F5EB-CF96-EE43D74BFB2B}"/>
              </a:ext>
            </a:extLst>
          </p:cNvPr>
          <p:cNvSpPr/>
          <p:nvPr/>
        </p:nvSpPr>
        <p:spPr>
          <a:xfrm>
            <a:off x="124698" y="1495867"/>
            <a:ext cx="184638" cy="4851200"/>
          </a:xfrm>
          <a:prstGeom prst="upArrow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488EE9-7D5B-7F45-33BE-F46AB6FB0709}"/>
              </a:ext>
            </a:extLst>
          </p:cNvPr>
          <p:cNvSpPr txBox="1"/>
          <p:nvPr/>
        </p:nvSpPr>
        <p:spPr>
          <a:xfrm rot="16200000">
            <a:off x="-657521" y="3632912"/>
            <a:ext cx="1661993" cy="369332"/>
          </a:xfrm>
          <a:prstGeom prst="rect">
            <a:avLst/>
          </a:prstGeom>
          <a:noFill/>
        </p:spPr>
        <p:txBody>
          <a:bodyPr vert="vert" wrap="square" rtlCol="0" anchor="ctr">
            <a:spAutoFit/>
          </a:bodyPr>
          <a:lstStyle/>
          <a:p>
            <a:pPr algn="ctr"/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평균 지출 비용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69ED9A-25CF-A13C-1925-6F3D29FFA5EF}"/>
              </a:ext>
            </a:extLst>
          </p:cNvPr>
          <p:cNvSpPr txBox="1"/>
          <p:nvPr/>
        </p:nvSpPr>
        <p:spPr>
          <a:xfrm>
            <a:off x="5385709" y="6162401"/>
            <a:ext cx="14205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활성화 지수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64A0C8E-B55E-221C-6424-5310ACEB0C0C}"/>
              </a:ext>
            </a:extLst>
          </p:cNvPr>
          <p:cNvSpPr txBox="1"/>
          <p:nvPr/>
        </p:nvSpPr>
        <p:spPr>
          <a:xfrm>
            <a:off x="372656" y="3470317"/>
            <a:ext cx="56495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경남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거창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의령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합천</a:t>
            </a:r>
            <a:endParaRPr lang="en-US" altLang="ko-KR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경북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문경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영주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울진</a:t>
            </a:r>
            <a:endParaRPr lang="en-US" altLang="ko-KR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전북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남원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정읍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진안</a:t>
            </a:r>
            <a:endParaRPr lang="en-US" altLang="ko-KR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전남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강진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구례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보성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완도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장흥</a:t>
            </a:r>
            <a:endParaRPr lang="en-US" altLang="ko-KR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B8B1F4-CF51-3D8F-882D-F11FF0367FEB}"/>
              </a:ext>
            </a:extLst>
          </p:cNvPr>
          <p:cNvSpPr txBox="1"/>
          <p:nvPr/>
        </p:nvSpPr>
        <p:spPr>
          <a:xfrm>
            <a:off x="6184328" y="3931981"/>
            <a:ext cx="5649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서울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광진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동작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양천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용산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은평</a:t>
            </a:r>
            <a:endParaRPr lang="en-US" altLang="ko-KR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4775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BF487E8-CE0A-7415-A9A1-0FEDBF2F73DD}"/>
              </a:ext>
            </a:extLst>
          </p:cNvPr>
          <p:cNvSpPr/>
          <p:nvPr/>
        </p:nvSpPr>
        <p:spPr>
          <a:xfrm>
            <a:off x="259080" y="1249119"/>
            <a:ext cx="7424420" cy="521228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0C1A10-97C7-A9DA-830D-2BF973244168}"/>
              </a:ext>
            </a:extLst>
          </p:cNvPr>
          <p:cNvSpPr txBox="1"/>
          <p:nvPr/>
        </p:nvSpPr>
        <p:spPr>
          <a:xfrm>
            <a:off x="3206881" y="3814530"/>
            <a:ext cx="144873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600" dirty="0">
                <a:solidFill>
                  <a:schemeClr val="accent1">
                    <a:lumMod val="20000"/>
                    <a:lumOff val="80000"/>
                  </a:schemeClr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&amp;</a:t>
            </a:r>
            <a:endParaRPr lang="ko-KR" altLang="en-US" sz="16600" dirty="0">
              <a:solidFill>
                <a:schemeClr val="accent1">
                  <a:lumMod val="20000"/>
                  <a:lumOff val="80000"/>
                </a:schemeClr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8D41B-B5D8-3909-F4E0-EF732908E858}"/>
              </a:ext>
            </a:extLst>
          </p:cNvPr>
          <p:cNvSpPr txBox="1"/>
          <p:nvPr/>
        </p:nvSpPr>
        <p:spPr>
          <a:xfrm>
            <a:off x="11766686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15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B35A-5054-20E0-4E0D-EC38F33238B2}"/>
              </a:ext>
            </a:extLst>
          </p:cNvPr>
          <p:cNvSpPr txBox="1"/>
          <p:nvPr/>
        </p:nvSpPr>
        <p:spPr>
          <a:xfrm>
            <a:off x="3492976" y="1353863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EDA</a:t>
            </a:r>
            <a:endParaRPr lang="ko-KR" altLang="en-US" sz="2400" dirty="0">
              <a:solidFill>
                <a:schemeClr val="accent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D3061E55-C855-E4BD-4A26-213137D6F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03" y="2064439"/>
            <a:ext cx="3002198" cy="2696025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58F81190-E516-985B-5EF0-7477BB2EC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581" y="2064439"/>
            <a:ext cx="3167297" cy="2683404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7D39257A-D972-76E6-0860-35BA9CC86B52}"/>
              </a:ext>
            </a:extLst>
          </p:cNvPr>
          <p:cNvSpPr/>
          <p:nvPr/>
        </p:nvSpPr>
        <p:spPr>
          <a:xfrm>
            <a:off x="994276" y="2315481"/>
            <a:ext cx="1063124" cy="24037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AB2AAF6-31DE-34C8-8844-8FA2C1A9CD8D}"/>
              </a:ext>
            </a:extLst>
          </p:cNvPr>
          <p:cNvSpPr/>
          <p:nvPr/>
        </p:nvSpPr>
        <p:spPr>
          <a:xfrm>
            <a:off x="5689600" y="2305955"/>
            <a:ext cx="1130299" cy="24037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2DCEA3-7846-818F-6386-0D36A133CBAE}"/>
              </a:ext>
            </a:extLst>
          </p:cNvPr>
          <p:cNvSpPr txBox="1"/>
          <p:nvPr/>
        </p:nvSpPr>
        <p:spPr>
          <a:xfrm>
            <a:off x="320722" y="4976660"/>
            <a:ext cx="3544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자연경관 감상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‘, ‘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휴식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’, ‘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휴양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등</a:t>
            </a:r>
            <a:endParaRPr lang="en-US" altLang="ko-KR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‘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힐링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‘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관련 활동 선호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2C0683-D406-5F3D-5A05-60311FE3F38D}"/>
              </a:ext>
            </a:extLst>
          </p:cNvPr>
          <p:cNvSpPr txBox="1"/>
          <p:nvPr/>
        </p:nvSpPr>
        <p:spPr>
          <a:xfrm>
            <a:off x="3931249" y="4976658"/>
            <a:ext cx="3544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40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~60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 관광객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의</a:t>
            </a:r>
            <a:endParaRPr lang="en-US" altLang="ko-KR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비중이 높음</a:t>
            </a:r>
            <a:endParaRPr lang="ko-KR" altLang="en-US" sz="2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7D4CE8DE-B8AA-06EE-C8FE-C4AB08C0254D}"/>
              </a:ext>
            </a:extLst>
          </p:cNvPr>
          <p:cNvSpPr/>
          <p:nvPr/>
        </p:nvSpPr>
        <p:spPr>
          <a:xfrm rot="5400000">
            <a:off x="7547781" y="3606727"/>
            <a:ext cx="1053126" cy="415606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BBFD5F-7B45-8F19-1960-19B41F728614}"/>
              </a:ext>
            </a:extLst>
          </p:cNvPr>
          <p:cNvSpPr txBox="1"/>
          <p:nvPr/>
        </p:nvSpPr>
        <p:spPr>
          <a:xfrm>
            <a:off x="8599699" y="3316654"/>
            <a:ext cx="29241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맞춤형 테마 관광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3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구축 필요</a:t>
            </a:r>
          </a:p>
        </p:txBody>
      </p:sp>
      <p:sp>
        <p:nvSpPr>
          <p:cNvPr id="3" name="직사각형 8">
            <a:extLst>
              <a:ext uri="{FF2B5EF4-FFF2-40B4-BE49-F238E27FC236}">
                <a16:creationId xmlns:a16="http://schemas.microsoft.com/office/drawing/2014/main" id="{DC922EA1-AC68-56C2-1F31-F98E86409B1E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54B1B-D84C-B777-5852-3C3F1CF63A49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3.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데이터 분석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(3) </a:t>
            </a:r>
            <a:r>
              <a:rPr lang="ko-KR" altLang="en-US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분류분석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F386D0-70C7-BE6C-CD1C-1FD06C8F2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202" y="1249119"/>
            <a:ext cx="642074" cy="64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57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16C159E-7D19-A06B-0EA7-32A5D55FA3EE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3.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데이터 분석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(4) </a:t>
            </a:r>
            <a:r>
              <a:rPr lang="ko-KR" altLang="en-US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회귀분석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BBB9-70CA-6F19-0A95-5084C102EE10}"/>
              </a:ext>
            </a:extLst>
          </p:cNvPr>
          <p:cNvSpPr txBox="1"/>
          <p:nvPr/>
        </p:nvSpPr>
        <p:spPr>
          <a:xfrm>
            <a:off x="11773400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16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A213EA-9608-01DE-9B35-193D79A51AD3}"/>
              </a:ext>
            </a:extLst>
          </p:cNvPr>
          <p:cNvSpPr txBox="1"/>
          <p:nvPr/>
        </p:nvSpPr>
        <p:spPr>
          <a:xfrm>
            <a:off x="321945" y="1023501"/>
            <a:ext cx="3872799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경남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거창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의령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합천</a:t>
            </a:r>
            <a:endParaRPr lang="en-US" altLang="ko-KR" sz="16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경북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문경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영주</a:t>
            </a:r>
            <a:endParaRPr lang="en-US" altLang="ko-KR" sz="16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전북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정읍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진안</a:t>
            </a:r>
            <a:endParaRPr lang="en-US" altLang="ko-KR" sz="16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전남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강진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보성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장흥</a:t>
            </a:r>
            <a:endParaRPr lang="en-US" altLang="ko-KR" sz="16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2B7118BE-26E9-4250-ECAF-CFC556B6F61A}"/>
              </a:ext>
            </a:extLst>
          </p:cNvPr>
          <p:cNvSpPr/>
          <p:nvPr/>
        </p:nvSpPr>
        <p:spPr>
          <a:xfrm rot="5400000">
            <a:off x="4785433" y="432812"/>
            <a:ext cx="1097118" cy="2278496"/>
          </a:xfrm>
          <a:prstGeom prst="triangle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592B1-D77B-82A7-408B-102AD2B0AF01}"/>
              </a:ext>
            </a:extLst>
          </p:cNvPr>
          <p:cNvSpPr txBox="1"/>
          <p:nvPr/>
        </p:nvSpPr>
        <p:spPr>
          <a:xfrm>
            <a:off x="4716305" y="1156561"/>
            <a:ext cx="67024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잠재적 관광 활성화 지역 </a:t>
            </a:r>
            <a:r>
              <a:rPr lang="ko-KR" altLang="en-US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대상으로 </a:t>
            </a:r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다중 회귀분석</a:t>
            </a:r>
            <a:r>
              <a:rPr lang="ko-KR" altLang="en-US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실시</a:t>
            </a:r>
            <a:endParaRPr lang="en-US" altLang="ko-KR" sz="2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→ </a:t>
            </a:r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만족도에 영향을 미치는 요인 </a:t>
            </a:r>
            <a:r>
              <a:rPr lang="ko-KR" altLang="en-US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BE6F8-9D35-1E83-2C58-622FF82A0B4E}"/>
              </a:ext>
            </a:extLst>
          </p:cNvPr>
          <p:cNvSpPr txBox="1"/>
          <p:nvPr/>
        </p:nvSpPr>
        <p:spPr>
          <a:xfrm>
            <a:off x="339884" y="2361135"/>
            <a:ext cx="5436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단계적 변수 선택법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통한 독립변수 결정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CF4F457-97CA-1FEB-F44C-A6DAAB281074}"/>
              </a:ext>
            </a:extLst>
          </p:cNvPr>
          <p:cNvSpPr txBox="1"/>
          <p:nvPr/>
        </p:nvSpPr>
        <p:spPr>
          <a:xfrm>
            <a:off x="988840" y="6181042"/>
            <a:ext cx="3919663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설명력이 가장 높을 때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의 변수들 선택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14A50E5-C087-8494-475B-E9E252474F0D}"/>
              </a:ext>
            </a:extLst>
          </p:cNvPr>
          <p:cNvGrpSpPr/>
          <p:nvPr/>
        </p:nvGrpSpPr>
        <p:grpSpPr>
          <a:xfrm>
            <a:off x="1186480" y="3899802"/>
            <a:ext cx="3579641" cy="2023512"/>
            <a:chOff x="3968610" y="4088257"/>
            <a:chExt cx="4085603" cy="2309524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C93AB607-C4D0-D628-2BAF-98ADB875261E}"/>
                </a:ext>
              </a:extLst>
            </p:cNvPr>
            <p:cNvGrpSpPr/>
            <p:nvPr/>
          </p:nvGrpSpPr>
          <p:grpSpPr>
            <a:xfrm>
              <a:off x="4137785" y="4189080"/>
              <a:ext cx="3916428" cy="2208701"/>
              <a:chOff x="5002284" y="4135656"/>
              <a:chExt cx="3916428" cy="2208701"/>
            </a:xfrm>
          </p:grpSpPr>
          <p:pic>
            <p:nvPicPr>
              <p:cNvPr id="48" name="Picture 5">
                <a:extLst>
                  <a:ext uri="{FF2B5EF4-FFF2-40B4-BE49-F238E27FC236}">
                    <a16:creationId xmlns:a16="http://schemas.microsoft.com/office/drawing/2014/main" id="{3C86FD46-4246-D45C-D78F-7A36C28604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3883"/>
              <a:stretch/>
            </p:blipFill>
            <p:spPr>
              <a:xfrm>
                <a:off x="5002284" y="4135656"/>
                <a:ext cx="3916426" cy="2208701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50000"/>
                  </a:schemeClr>
                </a:solidFill>
              </a:ln>
              <a:effectLst/>
            </p:spPr>
          </p:pic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1A6803D2-6298-0890-E1DA-68531BEE9B7E}"/>
                  </a:ext>
                </a:extLst>
              </p:cNvPr>
              <p:cNvSpPr/>
              <p:nvPr/>
            </p:nvSpPr>
            <p:spPr>
              <a:xfrm>
                <a:off x="8246374" y="4218879"/>
                <a:ext cx="672338" cy="119524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A72E51E2-1F34-4673-42B0-BA485B01E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68610" y="4088257"/>
              <a:ext cx="406499" cy="406499"/>
            </a:xfrm>
            <a:prstGeom prst="rect">
              <a:avLst/>
            </a:prstGeom>
          </p:spPr>
        </p:pic>
      </p:grp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0DBFF640-B541-7C1D-1BE2-B294B01D0786}"/>
              </a:ext>
            </a:extLst>
          </p:cNvPr>
          <p:cNvCxnSpPr>
            <a:cxnSpLocks/>
            <a:stCxn id="67" idx="3"/>
            <a:endCxn id="73" idx="3"/>
          </p:cNvCxnSpPr>
          <p:nvPr/>
        </p:nvCxnSpPr>
        <p:spPr>
          <a:xfrm>
            <a:off x="4766121" y="4584669"/>
            <a:ext cx="142382" cy="1796428"/>
          </a:xfrm>
          <a:prstGeom prst="curvedConnector3">
            <a:avLst>
              <a:gd name="adj1" fmla="val 26055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079B5B2-4780-D9FD-7CC7-AA2180562816}"/>
              </a:ext>
            </a:extLst>
          </p:cNvPr>
          <p:cNvGrpSpPr/>
          <p:nvPr/>
        </p:nvGrpSpPr>
        <p:grpSpPr>
          <a:xfrm>
            <a:off x="7729584" y="3113668"/>
            <a:ext cx="3368528" cy="2180418"/>
            <a:chOff x="6954528" y="5135055"/>
            <a:chExt cx="3368528" cy="2180418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CCC53A23-9516-A103-EDAF-20384A3B3499}"/>
                </a:ext>
              </a:extLst>
            </p:cNvPr>
            <p:cNvGrpSpPr/>
            <p:nvPr/>
          </p:nvGrpSpPr>
          <p:grpSpPr>
            <a:xfrm>
              <a:off x="6954528" y="5135055"/>
              <a:ext cx="3368528" cy="2180418"/>
              <a:chOff x="5409219" y="5198888"/>
              <a:chExt cx="3368528" cy="2180418"/>
            </a:xfrm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D5C0568D-83C4-F57C-E55E-E31A608D803C}"/>
                  </a:ext>
                </a:extLst>
              </p:cNvPr>
              <p:cNvGrpSpPr/>
              <p:nvPr/>
            </p:nvGrpSpPr>
            <p:grpSpPr>
              <a:xfrm>
                <a:off x="5590046" y="5715605"/>
                <a:ext cx="3187700" cy="1663701"/>
                <a:chOff x="2702702" y="5695046"/>
                <a:chExt cx="3187700" cy="1663701"/>
              </a:xfrm>
            </p:grpSpPr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4AF7C3A7-7DE2-DB34-402D-BCA22F8C14C9}"/>
                    </a:ext>
                  </a:extLst>
                </p:cNvPr>
                <p:cNvSpPr/>
                <p:nvPr/>
              </p:nvSpPr>
              <p:spPr>
                <a:xfrm>
                  <a:off x="2702702" y="5695046"/>
                  <a:ext cx="3187700" cy="1663701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46" name="그림 45">
                  <a:extLst>
                    <a:ext uri="{FF2B5EF4-FFF2-40B4-BE49-F238E27FC236}">
                      <a16:creationId xmlns:a16="http://schemas.microsoft.com/office/drawing/2014/main" id="{8F67043C-71C4-2EE5-AEFD-4F92D84A85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70068" y="5881193"/>
                  <a:ext cx="2852967" cy="1167726"/>
                </a:xfrm>
                <a:prstGeom prst="rect">
                  <a:avLst/>
                </a:prstGeom>
              </p:spPr>
            </p:pic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D72F684-458C-9102-5236-B8EA7BE87B58}"/>
                  </a:ext>
                </a:extLst>
              </p:cNvPr>
              <p:cNvSpPr txBox="1"/>
              <p:nvPr/>
            </p:nvSpPr>
            <p:spPr>
              <a:xfrm>
                <a:off x="5409219" y="5198888"/>
                <a:ext cx="33685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accent1">
                        <a:lumMod val="50000"/>
                      </a:schemeClr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OLS</a:t>
                </a:r>
                <a:r>
                  <a:rPr lang="en-US" altLang="ko-KR" sz="2000" b="0" i="0" dirty="0"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 </a:t>
                </a:r>
                <a:r>
                  <a:rPr lang="ko-KR" altLang="en-US" sz="2000" b="0" i="0" dirty="0"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회귀분석 </a:t>
                </a:r>
                <a:r>
                  <a:rPr lang="ko-KR" altLang="en-US" sz="2000" b="0" i="0" dirty="0">
                    <a:effectLst/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실시</a:t>
                </a:r>
                <a:endParaRPr lang="en-US" altLang="ko-KR" sz="20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</p:txBody>
          </p:sp>
        </p:grp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15A68887-8045-9B16-B56F-496720B05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54528" y="5547734"/>
              <a:ext cx="361652" cy="361652"/>
            </a:xfrm>
            <a:prstGeom prst="rect">
              <a:avLst/>
            </a:prstGeom>
          </p:spPr>
        </p:pic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EADF639-DEB0-CB5F-8FB9-B00B3B577DB5}"/>
              </a:ext>
            </a:extLst>
          </p:cNvPr>
          <p:cNvSpPr/>
          <p:nvPr/>
        </p:nvSpPr>
        <p:spPr>
          <a:xfrm>
            <a:off x="924459" y="2814906"/>
            <a:ext cx="4179787" cy="97489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단계적 변수 선택법이란</a:t>
            </a:r>
            <a:r>
              <a:rPr lang="en-US" altLang="ko-KR" sz="12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?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모든 독립 변수를 한 번에 투입하는 대신</a:t>
            </a:r>
            <a:r>
              <a: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통계적으로 유의미한 </a:t>
            </a:r>
            <a:endParaRPr lang="en-US" altLang="ko-KR" sz="1200" dirty="0">
              <a:solidFill>
                <a:schemeClr val="accent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변수들을 단계적으로 선택</a:t>
            </a:r>
            <a:r>
              <a:rPr lang="ko-KR" altLang="en-US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하고 유의미하지</a:t>
            </a:r>
            <a:r>
              <a: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않은 변수는 제거</a:t>
            </a:r>
          </a:p>
        </p:txBody>
      </p:sp>
      <p:sp>
        <p:nvSpPr>
          <p:cNvPr id="58" name="이등변 삼각형 57">
            <a:extLst>
              <a:ext uri="{FF2B5EF4-FFF2-40B4-BE49-F238E27FC236}">
                <a16:creationId xmlns:a16="http://schemas.microsoft.com/office/drawing/2014/main" id="{13018EAA-DAFF-83DE-DA00-FD9E05659397}"/>
              </a:ext>
            </a:extLst>
          </p:cNvPr>
          <p:cNvSpPr/>
          <p:nvPr/>
        </p:nvSpPr>
        <p:spPr>
          <a:xfrm rot="5400000">
            <a:off x="5418731" y="4127848"/>
            <a:ext cx="2278496" cy="708761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78C8E6CC-754A-7409-8DE7-E9B187580A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3661" y="3716416"/>
            <a:ext cx="2971859" cy="150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41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16C159E-7D19-A06B-0EA7-32A5D55FA3EE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3.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데이터 분석 </a:t>
            </a:r>
            <a:r>
              <a:rPr lang="en-US" altLang="ko-KR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(4) </a:t>
            </a:r>
            <a:r>
              <a:rPr lang="ko-KR" altLang="en-US" sz="40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회귀분석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BBB9-70CA-6F19-0A95-5084C102EE10}"/>
              </a:ext>
            </a:extLst>
          </p:cNvPr>
          <p:cNvSpPr txBox="1"/>
          <p:nvPr/>
        </p:nvSpPr>
        <p:spPr>
          <a:xfrm>
            <a:off x="11773400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17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1A13D4-EA34-129A-3738-561AA4B85CF1}"/>
              </a:ext>
            </a:extLst>
          </p:cNvPr>
          <p:cNvSpPr txBox="1"/>
          <p:nvPr/>
        </p:nvSpPr>
        <p:spPr>
          <a:xfrm>
            <a:off x="154305" y="951167"/>
            <a:ext cx="2406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회귀분석 결과</a:t>
            </a:r>
            <a:endParaRPr lang="ko-KR" altLang="en-US" sz="2800" dirty="0">
              <a:solidFill>
                <a:schemeClr val="accent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831E2FB-8621-82BD-2AE8-E0276ACE4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259995"/>
              </p:ext>
            </p:extLst>
          </p:nvPr>
        </p:nvGraphicFramePr>
        <p:xfrm>
          <a:off x="264160" y="1628335"/>
          <a:ext cx="6837672" cy="4876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296641929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577313248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3211286831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1721655900"/>
                    </a:ext>
                  </a:extLst>
                </a:gridCol>
                <a:gridCol w="1026160">
                  <a:extLst>
                    <a:ext uri="{9D8B030D-6E8A-4147-A177-3AD203B41FA5}">
                      <a16:colId xmlns:a16="http://schemas.microsoft.com/office/drawing/2014/main" val="1565813075"/>
                    </a:ext>
                  </a:extLst>
                </a:gridCol>
                <a:gridCol w="898428">
                  <a:extLst>
                    <a:ext uri="{9D8B030D-6E8A-4147-A177-3AD203B41FA5}">
                      <a16:colId xmlns:a16="http://schemas.microsoft.com/office/drawing/2014/main" val="3704441207"/>
                    </a:ext>
                  </a:extLst>
                </a:gridCol>
                <a:gridCol w="762362">
                  <a:extLst>
                    <a:ext uri="{9D8B030D-6E8A-4147-A177-3AD203B41FA5}">
                      <a16:colId xmlns:a16="http://schemas.microsoft.com/office/drawing/2014/main" val="649010747"/>
                    </a:ext>
                  </a:extLst>
                </a:gridCol>
                <a:gridCol w="762362">
                  <a:extLst>
                    <a:ext uri="{9D8B030D-6E8A-4147-A177-3AD203B41FA5}">
                      <a16:colId xmlns:a16="http://schemas.microsoft.com/office/drawing/2014/main" val="3673871881"/>
                    </a:ext>
                  </a:extLst>
                </a:gridCol>
              </a:tblGrid>
              <a:tr h="54184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R-squared : 0.417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Adj.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R-squared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: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0.415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39391"/>
                  </a:ext>
                </a:extLst>
              </a:tr>
              <a:tr h="541846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coef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std err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t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P &gt; |t|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[0.025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0.975]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367447"/>
                  </a:ext>
                </a:extLst>
              </a:tr>
              <a:tr h="5418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const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1.5628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0.096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16.254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0.000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1.374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1.751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432958"/>
                  </a:ext>
                </a:extLst>
              </a:tr>
              <a:tr h="5418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A11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0.4982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0.023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21.809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0.000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0.453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0.543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504693"/>
                  </a:ext>
                </a:extLst>
              </a:tr>
              <a:tr h="5418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A12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0.1607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0.024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6.746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0.000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0.114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0.207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013808"/>
                  </a:ext>
                </a:extLst>
              </a:tr>
              <a:tr h="5418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국내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_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숙박여부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_2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-0.0838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0.022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-3.738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0.000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-0.128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-0.040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143118"/>
                  </a:ext>
                </a:extLst>
              </a:tr>
              <a:tr h="5418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DQ5_2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0.0971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0.027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3.555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0.000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0.044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0.151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271254"/>
                  </a:ext>
                </a:extLst>
              </a:tr>
              <a:tr h="5418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A6_1_8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-0.0708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0.026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-2.685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0.007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-0.123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-0.019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197464"/>
                  </a:ext>
                </a:extLst>
              </a:tr>
              <a:tr h="5418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A5A_4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0.1394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0.060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2.320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0.020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0.022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0.257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588956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8D61F614-42AD-C527-D1D6-EA90BFD51251}"/>
              </a:ext>
            </a:extLst>
          </p:cNvPr>
          <p:cNvSpPr/>
          <p:nvPr/>
        </p:nvSpPr>
        <p:spPr>
          <a:xfrm>
            <a:off x="7213600" y="1628335"/>
            <a:ext cx="4824095" cy="48766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① </a:t>
            </a:r>
            <a:r>
              <a: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R-squared : </a:t>
            </a:r>
            <a:r>
              <a: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회귀모형의 설명력</a:t>
            </a:r>
            <a:endParaRPr lang="en-US" altLang="ko-KR" sz="20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>
              <a:defRPr/>
            </a:pPr>
            <a:r>
              <a:rPr lang="ko-KR" altLang="en-US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→ </a:t>
            </a:r>
            <a:r>
              <a:rPr lang="en-US" altLang="ko-KR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6</a:t>
            </a:r>
            <a:r>
              <a:rPr lang="ko-KR" altLang="en-US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개의 독립변수들이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종속변수의 변동을 </a:t>
            </a:r>
            <a:endParaRPr lang="en-US" altLang="ko-KR" sz="2000" dirty="0">
              <a:solidFill>
                <a:schemeClr val="accent1">
                  <a:lumMod val="50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>
              <a:defRPr/>
            </a:pP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   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약 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41.7%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설명</a:t>
            </a:r>
            <a:r>
              <a:rPr lang="ko-KR" altLang="en-US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함</a:t>
            </a:r>
            <a:endParaRPr lang="en-US" altLang="ko-KR" sz="20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>
              <a:defRPr/>
            </a:pPr>
            <a:endParaRPr lang="en-US" altLang="ko-KR" sz="20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>
              <a:defRPr/>
            </a:pPr>
            <a:r>
              <a: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② </a:t>
            </a:r>
            <a:r>
              <a:rPr lang="en-US" altLang="ko-KR" sz="2000" dirty="0" err="1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coef</a:t>
            </a:r>
            <a:r>
              <a: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: </a:t>
            </a:r>
            <a:r>
              <a: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회귀 계수</a:t>
            </a:r>
            <a:endParaRPr lang="en-US" altLang="ko-KR" sz="20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>
              <a:defRPr/>
            </a:pPr>
            <a:r>
              <a:rPr lang="en-US" altLang="ko-KR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</a:t>
            </a:r>
            <a:r>
              <a:rPr lang="ko-KR" altLang="en-US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→ 양</a:t>
            </a:r>
            <a:r>
              <a:rPr lang="en-US" altLang="ko-KR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(+)</a:t>
            </a:r>
            <a:r>
              <a:rPr lang="ko-KR" altLang="en-US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의 값이면 </a:t>
            </a:r>
            <a:r>
              <a:rPr lang="ko-KR" altLang="en-US" sz="2000" dirty="0">
                <a:solidFill>
                  <a:srgbClr val="FF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긍정적인 영향</a:t>
            </a:r>
            <a:r>
              <a:rPr lang="en-US" altLang="ko-KR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</a:t>
            </a:r>
          </a:p>
          <a:p>
            <a:pPr>
              <a:defRPr/>
            </a:pPr>
            <a:r>
              <a:rPr lang="en-US" altLang="ko-KR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    </a:t>
            </a:r>
            <a:r>
              <a:rPr lang="ko-KR" altLang="en-US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음</a:t>
            </a:r>
            <a:r>
              <a:rPr lang="en-US" altLang="ko-KR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(-)</a:t>
            </a:r>
            <a:r>
              <a:rPr lang="ko-KR" altLang="en-US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의 값이면 </a:t>
            </a:r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부정적인 영향</a:t>
            </a:r>
            <a:endParaRPr lang="en-US" altLang="ko-KR" sz="2000" dirty="0">
              <a:solidFill>
                <a:schemeClr val="accent5">
                  <a:lumMod val="50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>
              <a:defRPr/>
            </a:pPr>
            <a:endParaRPr lang="en-US" altLang="ko-KR" sz="20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>
              <a:defRPr/>
            </a:pPr>
            <a:r>
              <a: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③ </a:t>
            </a:r>
            <a:r>
              <a: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 &gt; |t| : </a:t>
            </a:r>
            <a:r>
              <a: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유의확률</a:t>
            </a:r>
            <a:endParaRPr lang="en-US" altLang="ko-KR" sz="20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>
              <a:defRPr/>
            </a:pPr>
            <a:r>
              <a:rPr lang="ko-KR" altLang="en-US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→ 모든 변수들이 </a:t>
            </a:r>
            <a:r>
              <a:rPr lang="en-US" altLang="ko-KR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0.05 </a:t>
            </a:r>
            <a:r>
              <a:rPr lang="ko-KR" altLang="en-US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미만으로 </a:t>
            </a:r>
            <a:endParaRPr lang="en-US" altLang="ko-KR" sz="20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>
              <a:defRPr/>
            </a:pPr>
            <a:r>
              <a:rPr lang="en-US" altLang="ko-KR" sz="20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   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통계적 유의성 만족</a:t>
            </a:r>
            <a:endParaRPr lang="en-US" altLang="ko-KR" sz="2000" dirty="0">
              <a:solidFill>
                <a:schemeClr val="accent1">
                  <a:lumMod val="50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067493F-EFAD-383D-F424-BA7535073886}"/>
              </a:ext>
            </a:extLst>
          </p:cNvPr>
          <p:cNvSpPr/>
          <p:nvPr/>
        </p:nvSpPr>
        <p:spPr>
          <a:xfrm>
            <a:off x="1020549" y="1704535"/>
            <a:ext cx="1780708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60072-8B78-A348-EE5B-9ECDC253D1B1}"/>
              </a:ext>
            </a:extLst>
          </p:cNvPr>
          <p:cNvSpPr txBox="1"/>
          <p:nvPr/>
        </p:nvSpPr>
        <p:spPr>
          <a:xfrm>
            <a:off x="933919" y="1739254"/>
            <a:ext cx="173259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b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2B1D63-C45A-E3E7-495D-C75B45992425}"/>
              </a:ext>
            </a:extLst>
          </p:cNvPr>
          <p:cNvSpPr/>
          <p:nvPr/>
        </p:nvSpPr>
        <p:spPr>
          <a:xfrm>
            <a:off x="1569189" y="2238940"/>
            <a:ext cx="884451" cy="4139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98B717-796B-D67F-FF22-C07F3F6FA3DA}"/>
              </a:ext>
            </a:extLst>
          </p:cNvPr>
          <p:cNvSpPr txBox="1"/>
          <p:nvPr/>
        </p:nvSpPr>
        <p:spPr>
          <a:xfrm>
            <a:off x="1482559" y="2295793"/>
            <a:ext cx="173259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b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②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E11468-4FC0-7AD5-39D1-571F5D6FD433}"/>
              </a:ext>
            </a:extLst>
          </p:cNvPr>
          <p:cNvSpPr/>
          <p:nvPr/>
        </p:nvSpPr>
        <p:spPr>
          <a:xfrm>
            <a:off x="4632429" y="2250388"/>
            <a:ext cx="884451" cy="4139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AF385F-DF9E-F180-E172-E0718C7A4599}"/>
              </a:ext>
            </a:extLst>
          </p:cNvPr>
          <p:cNvSpPr txBox="1"/>
          <p:nvPr/>
        </p:nvSpPr>
        <p:spPr>
          <a:xfrm>
            <a:off x="4545799" y="2292727"/>
            <a:ext cx="173259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b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3529900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8">
            <a:extLst>
              <a:ext uri="{FF2B5EF4-FFF2-40B4-BE49-F238E27FC236}">
                <a16:creationId xmlns:a16="http://schemas.microsoft.com/office/drawing/2014/main" id="{F516FDF0-7A05-BA98-F91E-4A263AABF824}"/>
              </a:ext>
            </a:extLst>
          </p:cNvPr>
          <p:cNvSpPr/>
          <p:nvPr/>
        </p:nvSpPr>
        <p:spPr>
          <a:xfrm>
            <a:off x="0" y="1"/>
            <a:ext cx="124968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800" h="1262743">
                <a:moveTo>
                  <a:pt x="0" y="0"/>
                </a:moveTo>
                <a:lnTo>
                  <a:pt x="12496800" y="0"/>
                </a:lnTo>
                <a:lnTo>
                  <a:pt x="12496800" y="1262743"/>
                </a:lnTo>
                <a:lnTo>
                  <a:pt x="1524000" y="126274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84A3137-C6D5-94E1-C99E-0A6A63566F4F}"/>
              </a:ext>
            </a:extLst>
          </p:cNvPr>
          <p:cNvSpPr/>
          <p:nvPr/>
        </p:nvSpPr>
        <p:spPr>
          <a:xfrm>
            <a:off x="177800" y="2481533"/>
            <a:ext cx="11836400" cy="32022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4.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정책 제안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(1)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8D41B-B5D8-3909-F4E0-EF732908E858}"/>
              </a:ext>
            </a:extLst>
          </p:cNvPr>
          <p:cNvSpPr txBox="1"/>
          <p:nvPr/>
        </p:nvSpPr>
        <p:spPr>
          <a:xfrm>
            <a:off x="11766686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18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EE2C263-E303-43DD-451F-C8F9728C5009}"/>
              </a:ext>
            </a:extLst>
          </p:cNvPr>
          <p:cNvSpPr/>
          <p:nvPr/>
        </p:nvSpPr>
        <p:spPr>
          <a:xfrm>
            <a:off x="177800" y="1077496"/>
            <a:ext cx="11836400" cy="11303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C12A1-D727-FE79-7AD4-3812EDEF7F13}"/>
              </a:ext>
            </a:extLst>
          </p:cNvPr>
          <p:cNvSpPr txBox="1"/>
          <p:nvPr/>
        </p:nvSpPr>
        <p:spPr>
          <a:xfrm>
            <a:off x="4947288" y="1206381"/>
            <a:ext cx="2297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웰니스</a:t>
            </a:r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관광</a:t>
            </a:r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이란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?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7B996-16A5-B51B-170A-DE3E5277427C}"/>
              </a:ext>
            </a:extLst>
          </p:cNvPr>
          <p:cNvSpPr txBox="1"/>
          <p:nvPr/>
        </p:nvSpPr>
        <p:spPr>
          <a:xfrm>
            <a:off x="177800" y="1691501"/>
            <a:ext cx="1183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건강 유지 및 증진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을 목적으로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자연과 휴식을 중심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으로 하는 관광 트렌드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en-US" altLang="ko-KR" sz="16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Mueller&amp;Kaufmann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2001)</a:t>
            </a:r>
            <a:endParaRPr lang="ko-KR" altLang="en-US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3426C-8D7A-176C-330C-6FF71BA8F54A}"/>
              </a:ext>
            </a:extLst>
          </p:cNvPr>
          <p:cNvSpPr txBox="1"/>
          <p:nvPr/>
        </p:nvSpPr>
        <p:spPr>
          <a:xfrm>
            <a:off x="4843365" y="2574127"/>
            <a:ext cx="2581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웰니스</a:t>
            </a:r>
            <a:r>
              <a:rPr lang="ko-KR" altLang="en-US" sz="2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관광 테마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3FE0280-4A09-9241-B02F-41EB96320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90" y="3463299"/>
            <a:ext cx="1130300" cy="11303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75A8D2F-946C-48D1-4744-77BDD14F7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947" y="3463297"/>
            <a:ext cx="1130301" cy="113030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E3B62EB-4DAC-D2C8-E71F-507FE222A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047" y="3463297"/>
            <a:ext cx="1066863" cy="106686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08A7680-785D-5E49-B545-5B3F1921DEC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24681" y="3510922"/>
            <a:ext cx="1035049" cy="103504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89F771A-37F2-81AD-1CA4-3DF91F67B5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2416" y="3463297"/>
            <a:ext cx="1064799" cy="106479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0CA2AFE-CCDF-40C0-94D0-9E6CF5F913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7957" y="3372395"/>
            <a:ext cx="1130301" cy="113030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9C88C83-0013-D9C4-56A6-9E544C96BFCA}"/>
              </a:ext>
            </a:extLst>
          </p:cNvPr>
          <p:cNvSpPr txBox="1"/>
          <p:nvPr/>
        </p:nvSpPr>
        <p:spPr>
          <a:xfrm>
            <a:off x="762144" y="4754652"/>
            <a:ext cx="15327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뷰티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· </a:t>
            </a:r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스파</a:t>
            </a:r>
            <a:endParaRPr lang="en-US" altLang="ko-KR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289391-DE82-29A6-1658-A33B4F2CE944}"/>
              </a:ext>
            </a:extLst>
          </p:cNvPr>
          <p:cNvSpPr txBox="1"/>
          <p:nvPr/>
        </p:nvSpPr>
        <p:spPr>
          <a:xfrm>
            <a:off x="2617701" y="4754651"/>
            <a:ext cx="15327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힐링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· </a:t>
            </a:r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명상</a:t>
            </a:r>
            <a:endParaRPr lang="en-US" altLang="ko-KR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9E7D19-2ACA-E8BA-02EB-BFFA59FB7029}"/>
              </a:ext>
            </a:extLst>
          </p:cNvPr>
          <p:cNvSpPr txBox="1"/>
          <p:nvPr/>
        </p:nvSpPr>
        <p:spPr>
          <a:xfrm>
            <a:off x="4333450" y="4754650"/>
            <a:ext cx="180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자연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· </a:t>
            </a:r>
            <a:r>
              <a:rPr lang="ko-KR" altLang="en-US" sz="24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숲치유</a:t>
            </a:r>
            <a:endParaRPr lang="en-US" altLang="ko-KR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AA31D5-2400-99CD-EFF5-9024F09C19C7}"/>
              </a:ext>
            </a:extLst>
          </p:cNvPr>
          <p:cNvSpPr txBox="1"/>
          <p:nvPr/>
        </p:nvSpPr>
        <p:spPr>
          <a:xfrm>
            <a:off x="6682170" y="4754651"/>
            <a:ext cx="720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한방</a:t>
            </a:r>
            <a:endParaRPr lang="en-US" altLang="ko-KR" sz="2400" dirty="0">
              <a:solidFill>
                <a:schemeClr val="accent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19966A-EA10-335B-0457-35681CB3D694}"/>
              </a:ext>
            </a:extLst>
          </p:cNvPr>
          <p:cNvSpPr txBox="1"/>
          <p:nvPr/>
        </p:nvSpPr>
        <p:spPr>
          <a:xfrm>
            <a:off x="8384780" y="4754648"/>
            <a:ext cx="720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푸드</a:t>
            </a:r>
            <a:endParaRPr lang="en-US" altLang="ko-KR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A5C18E-770B-1E53-572A-8CAEDA676AA3}"/>
              </a:ext>
            </a:extLst>
          </p:cNvPr>
          <p:cNvSpPr txBox="1"/>
          <p:nvPr/>
        </p:nvSpPr>
        <p:spPr>
          <a:xfrm>
            <a:off x="10059221" y="4768930"/>
            <a:ext cx="987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스테이</a:t>
            </a:r>
            <a:endParaRPr lang="en-US" altLang="ko-KR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05A9707-BC0F-5EA2-57D5-FD5C53C2F82C}"/>
              </a:ext>
            </a:extLst>
          </p:cNvPr>
          <p:cNvSpPr/>
          <p:nvPr/>
        </p:nvSpPr>
        <p:spPr>
          <a:xfrm>
            <a:off x="6286769" y="3189941"/>
            <a:ext cx="1532791" cy="2163646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042CFE-243D-E341-2F2E-DAF680DBBF2B}"/>
              </a:ext>
            </a:extLst>
          </p:cNvPr>
          <p:cNvSpPr txBox="1"/>
          <p:nvPr/>
        </p:nvSpPr>
        <p:spPr>
          <a:xfrm>
            <a:off x="1264809" y="5947712"/>
            <a:ext cx="9040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 방문 연령층</a:t>
            </a:r>
            <a:r>
              <a:rPr lang="en-US" altLang="ko-KR" sz="2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(40~60</a:t>
            </a:r>
            <a:r>
              <a:rPr lang="ko-KR" altLang="en-US" sz="2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r>
              <a:rPr lang="en-US" altLang="ko-KR" sz="2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r>
              <a:rPr lang="ko-KR" altLang="en-US" sz="2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 선호할만한 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한방 테마 활성화</a:t>
            </a:r>
          </a:p>
        </p:txBody>
      </p:sp>
    </p:spTree>
    <p:extLst>
      <p:ext uri="{BB962C8B-B14F-4D97-AF65-F5344CB8AC3E}">
        <p14:creationId xmlns:p14="http://schemas.microsoft.com/office/powerpoint/2010/main" val="2543271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C850BFE-2F2A-EFDF-5441-C87E04CDB0D8}"/>
              </a:ext>
            </a:extLst>
          </p:cNvPr>
          <p:cNvSpPr/>
          <p:nvPr/>
        </p:nvSpPr>
        <p:spPr>
          <a:xfrm>
            <a:off x="167640" y="1509773"/>
            <a:ext cx="11866154" cy="508565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8">
            <a:extLst>
              <a:ext uri="{FF2B5EF4-FFF2-40B4-BE49-F238E27FC236}">
                <a16:creationId xmlns:a16="http://schemas.microsoft.com/office/drawing/2014/main" id="{9714D873-8700-78D4-352B-715BAF30BA00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4.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정책 제안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(1)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8D41B-B5D8-3909-F4E0-EF732908E858}"/>
              </a:ext>
            </a:extLst>
          </p:cNvPr>
          <p:cNvSpPr txBox="1"/>
          <p:nvPr/>
        </p:nvSpPr>
        <p:spPr>
          <a:xfrm>
            <a:off x="11766686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19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F56F04-CA68-B9B8-40CF-3B67992BADF1}"/>
              </a:ext>
            </a:extLst>
          </p:cNvPr>
          <p:cNvSpPr txBox="1"/>
          <p:nvPr/>
        </p:nvSpPr>
        <p:spPr>
          <a:xfrm>
            <a:off x="0" y="933689"/>
            <a:ext cx="12182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한방 중점 관광 클러스터 구축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831D046-06B4-BD52-74A9-29DD8CFE9928}"/>
              </a:ext>
            </a:extLst>
          </p:cNvPr>
          <p:cNvGrpSpPr/>
          <p:nvPr/>
        </p:nvGrpSpPr>
        <p:grpSpPr>
          <a:xfrm>
            <a:off x="711999" y="1777318"/>
            <a:ext cx="4839642" cy="4570724"/>
            <a:chOff x="455666" y="1934775"/>
            <a:chExt cx="4839642" cy="45707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561064E-DC52-FF19-6534-6337AB178FC4}"/>
                </a:ext>
              </a:extLst>
            </p:cNvPr>
            <p:cNvSpPr txBox="1"/>
            <p:nvPr/>
          </p:nvSpPr>
          <p:spPr>
            <a:xfrm>
              <a:off x="683392" y="1934775"/>
              <a:ext cx="42401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① 경상북도 문경</a:t>
              </a:r>
              <a:r>
                <a:rPr lang="en-US" altLang="ko-KR" sz="20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, </a:t>
              </a:r>
              <a:r>
                <a:rPr lang="ko-KR" altLang="en-US" sz="20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영주</a:t>
              </a:r>
              <a:r>
                <a:rPr lang="en-US" altLang="ko-KR" sz="20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, </a:t>
              </a:r>
              <a:r>
                <a:rPr lang="ko-KR" altLang="en-US" sz="20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울진</a:t>
              </a:r>
              <a:endPara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185181-872A-D104-E809-9CBA4B5522FF}"/>
                </a:ext>
              </a:extLst>
            </p:cNvPr>
            <p:cNvSpPr txBox="1"/>
            <p:nvPr/>
          </p:nvSpPr>
          <p:spPr>
            <a:xfrm>
              <a:off x="1217159" y="5797613"/>
              <a:ext cx="317266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한방</a:t>
              </a:r>
              <a:r>
                <a:rPr lang="ko-KR" altLang="en-US" sz="20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을 중점으로 한</a:t>
              </a:r>
              <a:endPara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  <a:p>
              <a:pPr algn="ctr"/>
              <a:r>
                <a:rPr lang="ko-KR" altLang="en-US" sz="2000" dirty="0">
                  <a:solidFill>
                    <a:schemeClr val="accent1">
                      <a:lumMod val="50000"/>
                    </a:schemeClr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경북지역 관광 클러스터 </a:t>
              </a:r>
              <a:r>
                <a:rPr lang="ko-KR" altLang="en-US" sz="20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구축 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5BEA7F29-0A89-E3C9-CBB2-89CEC88F5039}"/>
                </a:ext>
              </a:extLst>
            </p:cNvPr>
            <p:cNvGrpSpPr/>
            <p:nvPr/>
          </p:nvGrpSpPr>
          <p:grpSpPr>
            <a:xfrm>
              <a:off x="723422" y="2512481"/>
              <a:ext cx="4240198" cy="2902445"/>
              <a:chOff x="733791" y="2595219"/>
              <a:chExt cx="3798892" cy="2600368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392ED27A-8F36-C614-EF47-5B1F9A143E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3791" y="2595219"/>
                <a:ext cx="3798892" cy="2600368"/>
              </a:xfrm>
              <a:prstGeom prst="rect">
                <a:avLst/>
              </a:prstGeom>
              <a:ln>
                <a:solidFill>
                  <a:schemeClr val="accent1">
                    <a:lumMod val="50000"/>
                  </a:schemeClr>
                </a:solidFill>
              </a:ln>
            </p:spPr>
          </p:pic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A6693CD5-D84F-51D5-8359-7DB127CC239E}"/>
                  </a:ext>
                </a:extLst>
              </p:cNvPr>
              <p:cNvSpPr/>
              <p:nvPr/>
            </p:nvSpPr>
            <p:spPr>
              <a:xfrm>
                <a:off x="3704984" y="3479106"/>
                <a:ext cx="695642" cy="695641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A624AEA-46C9-44BE-E631-07D8BA4B3FE9}"/>
                  </a:ext>
                </a:extLst>
              </p:cNvPr>
              <p:cNvSpPr/>
              <p:nvPr/>
            </p:nvSpPr>
            <p:spPr>
              <a:xfrm>
                <a:off x="977578" y="3972952"/>
                <a:ext cx="695642" cy="695641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8D59FE54-0890-EBE1-E6F5-DFB042303C63}"/>
                  </a:ext>
                </a:extLst>
              </p:cNvPr>
              <p:cNvSpPr/>
              <p:nvPr/>
            </p:nvSpPr>
            <p:spPr>
              <a:xfrm>
                <a:off x="1974543" y="3537492"/>
                <a:ext cx="695642" cy="695641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FAC6A33-EF7F-AD0E-F9A6-442EE44905F1}"/>
                </a:ext>
              </a:extLst>
            </p:cNvPr>
            <p:cNvSpPr/>
            <p:nvPr/>
          </p:nvSpPr>
          <p:spPr>
            <a:xfrm>
              <a:off x="3537113" y="4388538"/>
              <a:ext cx="1758195" cy="4969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1100" dirty="0" err="1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금강송</a:t>
              </a:r>
              <a:r>
                <a:rPr lang="ko-KR" altLang="en-US" sz="11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산지 중심</a:t>
              </a:r>
              <a:endParaRPr lang="en-US" altLang="ko-KR" sz="11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r"/>
              <a:r>
                <a:rPr lang="ko-KR" altLang="en-US" sz="11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한약재 복령 생산지</a:t>
              </a:r>
              <a:endParaRPr lang="en-US" altLang="ko-KR" sz="11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628CB012-024B-58AD-FB15-C0E8FAEAB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83525" y="4494018"/>
              <a:ext cx="426859" cy="426859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F8D41E2-119B-5F7E-0465-F9E6D76FF33D}"/>
                </a:ext>
              </a:extLst>
            </p:cNvPr>
            <p:cNvSpPr/>
            <p:nvPr/>
          </p:nvSpPr>
          <p:spPr>
            <a:xfrm>
              <a:off x="1638300" y="2986885"/>
              <a:ext cx="1758195" cy="4969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11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풍기인삼축제와 같은</a:t>
              </a:r>
              <a:endParaRPr lang="en-US" altLang="ko-KR" sz="11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r"/>
              <a:r>
                <a:rPr lang="ko-KR" altLang="en-US" sz="11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한방 관련 체험 관광</a:t>
              </a:r>
              <a:endParaRPr lang="en-US" altLang="ko-KR" sz="11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772F9818-D550-CFD8-8EA2-C0DD64CB1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87445" y="3139735"/>
              <a:ext cx="344521" cy="344521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65AF87B-EC8D-580A-BE93-9774FDA82875}"/>
                </a:ext>
              </a:extLst>
            </p:cNvPr>
            <p:cNvSpPr/>
            <p:nvPr/>
          </p:nvSpPr>
          <p:spPr>
            <a:xfrm>
              <a:off x="455666" y="4895491"/>
              <a:ext cx="1856177" cy="4969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11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한약재 재배에 활용하는</a:t>
              </a:r>
              <a:endParaRPr lang="en-US" altLang="ko-KR" sz="11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r"/>
              <a:r>
                <a:rPr lang="ko-KR" altLang="en-US" sz="1100" dirty="0" err="1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문경약돌의</a:t>
              </a:r>
              <a:r>
                <a:rPr lang="ko-KR" altLang="en-US" sz="11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광맥 분포</a:t>
              </a:r>
              <a:endParaRPr lang="en-US" altLang="ko-KR" sz="11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B32E7CB0-8CB9-BF88-70EF-D12AFEF58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aintStrokes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95007" y="5085567"/>
              <a:ext cx="264981" cy="264981"/>
            </a:xfrm>
            <a:prstGeom prst="rect">
              <a:avLst/>
            </a:prstGeom>
          </p:spPr>
        </p:pic>
      </p:grp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E0B43A2-BB45-408E-4A31-CB434EC60EA6}"/>
              </a:ext>
            </a:extLst>
          </p:cNvPr>
          <p:cNvCxnSpPr>
            <a:cxnSpLocks/>
          </p:cNvCxnSpPr>
          <p:nvPr/>
        </p:nvCxnSpPr>
        <p:spPr>
          <a:xfrm>
            <a:off x="6096000" y="1698153"/>
            <a:ext cx="0" cy="462973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B05372C-0475-818C-0F62-4A28CC0ADA04}"/>
              </a:ext>
            </a:extLst>
          </p:cNvPr>
          <p:cNvSpPr txBox="1"/>
          <p:nvPr/>
        </p:nvSpPr>
        <p:spPr>
          <a:xfrm>
            <a:off x="6529397" y="1756606"/>
            <a:ext cx="4826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② 경상남도 거창</a:t>
            </a:r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의령</a:t>
            </a:r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합천 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+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경상남도 산청</a:t>
            </a:r>
            <a:endParaRPr lang="ko-KR" alt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22FD63-1026-1766-8D4F-232EA31C4C5E}"/>
              </a:ext>
            </a:extLst>
          </p:cNvPr>
          <p:cNvSpPr txBox="1"/>
          <p:nvPr/>
        </p:nvSpPr>
        <p:spPr>
          <a:xfrm>
            <a:off x="7225916" y="5555929"/>
            <a:ext cx="35525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경상남도 산청과 연계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하여</a:t>
            </a:r>
            <a:endParaRPr lang="en-US" altLang="ko-KR" sz="2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힐링 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자연 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+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한방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중점으로 한</a:t>
            </a:r>
            <a:endParaRPr lang="en-US" altLang="ko-KR" sz="2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경남지역 관광 클러스터 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구축 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5AD4233-EAE1-FFE1-C401-BFB36E43DACF}"/>
              </a:ext>
            </a:extLst>
          </p:cNvPr>
          <p:cNvGrpSpPr/>
          <p:nvPr/>
        </p:nvGrpSpPr>
        <p:grpSpPr>
          <a:xfrm>
            <a:off x="6972048" y="2271135"/>
            <a:ext cx="5016735" cy="3308633"/>
            <a:chOff x="93870" y="2194559"/>
            <a:chExt cx="5349892" cy="3528357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8CA9DEB3-E734-A3C7-2AE2-92553EB2494E}"/>
                </a:ext>
              </a:extLst>
            </p:cNvPr>
            <p:cNvGrpSpPr/>
            <p:nvPr/>
          </p:nvGrpSpPr>
          <p:grpSpPr>
            <a:xfrm>
              <a:off x="683650" y="2268933"/>
              <a:ext cx="3236108" cy="3086263"/>
              <a:chOff x="4069393" y="3385708"/>
              <a:chExt cx="2509015" cy="2392838"/>
            </a:xfrm>
          </p:grpSpPr>
          <p:pic>
            <p:nvPicPr>
              <p:cNvPr id="38" name="그림 37">
                <a:extLst>
                  <a:ext uri="{FF2B5EF4-FFF2-40B4-BE49-F238E27FC236}">
                    <a16:creationId xmlns:a16="http://schemas.microsoft.com/office/drawing/2014/main" id="{B74710BF-96C8-5221-6E8C-5F3C382F9E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b="5422"/>
              <a:stretch/>
            </p:blipFill>
            <p:spPr>
              <a:xfrm>
                <a:off x="4069393" y="3385708"/>
                <a:ext cx="2509015" cy="2392838"/>
              </a:xfrm>
              <a:prstGeom prst="rect">
                <a:avLst/>
              </a:prstGeom>
              <a:ln>
                <a:solidFill>
                  <a:schemeClr val="accent1">
                    <a:lumMod val="50000"/>
                  </a:schemeClr>
                </a:solidFill>
              </a:ln>
            </p:spPr>
          </p:pic>
          <p:pic>
            <p:nvPicPr>
              <p:cNvPr id="39" name="그림 38">
                <a:extLst>
                  <a:ext uri="{FF2B5EF4-FFF2-40B4-BE49-F238E27FC236}">
                    <a16:creationId xmlns:a16="http://schemas.microsoft.com/office/drawing/2014/main" id="{5937D227-CFF0-2A76-BB10-3963B94D38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34847" y="4442056"/>
                <a:ext cx="592523" cy="592523"/>
              </a:xfrm>
              <a:prstGeom prst="rect">
                <a:avLst/>
              </a:prstGeom>
            </p:spPr>
          </p:pic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5267F527-D36C-81E4-C2C6-F87D7017D765}"/>
                  </a:ext>
                </a:extLst>
              </p:cNvPr>
              <p:cNvSpPr/>
              <p:nvPr/>
            </p:nvSpPr>
            <p:spPr>
              <a:xfrm>
                <a:off x="4750803" y="3748590"/>
                <a:ext cx="592523" cy="592523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87AF3008-6591-F44F-7D6C-D9ABCBF38211}"/>
                  </a:ext>
                </a:extLst>
              </p:cNvPr>
              <p:cNvSpPr/>
              <p:nvPr/>
            </p:nvSpPr>
            <p:spPr>
              <a:xfrm>
                <a:off x="5290673" y="4399574"/>
                <a:ext cx="592523" cy="592523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616061D1-8A2A-4C8D-2451-FA7DCDA0E973}"/>
                  </a:ext>
                </a:extLst>
              </p:cNvPr>
              <p:cNvSpPr/>
              <p:nvPr/>
            </p:nvSpPr>
            <p:spPr>
              <a:xfrm>
                <a:off x="5634936" y="4923946"/>
                <a:ext cx="592523" cy="592523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AEFE20E-936B-EF01-2091-2D320C870444}"/>
                </a:ext>
              </a:extLst>
            </p:cNvPr>
            <p:cNvSpPr/>
            <p:nvPr/>
          </p:nvSpPr>
          <p:spPr>
            <a:xfrm>
              <a:off x="318884" y="4863678"/>
              <a:ext cx="2161978" cy="4969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전통 한방의 본 고장</a:t>
              </a:r>
              <a:endPara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r"/>
              <a:r>
                <a:rPr lang="ko-KR" altLang="en-US" sz="1200" dirty="0" err="1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한방약초</a:t>
              </a:r>
              <a:r>
                <a:rPr lang="en-US" altLang="ko-KR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한의학의 성지</a:t>
              </a:r>
              <a:endPara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8EF052D0-1747-9CA2-BD42-4C80E9C26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02127" y="4926913"/>
              <a:ext cx="339946" cy="339946"/>
            </a:xfrm>
            <a:prstGeom prst="rect">
              <a:avLst/>
            </a:prstGeom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448F460-3FE5-A0DD-ACF7-0FEB72E55CD9}"/>
                </a:ext>
              </a:extLst>
            </p:cNvPr>
            <p:cNvSpPr/>
            <p:nvPr/>
          </p:nvSpPr>
          <p:spPr>
            <a:xfrm>
              <a:off x="93870" y="2194559"/>
              <a:ext cx="2232890" cy="4969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백두산 천지온천 등</a:t>
              </a:r>
              <a:endPara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r"/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힐링 </a:t>
              </a:r>
              <a:r>
                <a:rPr lang="en-US" altLang="ko-KR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· </a:t>
              </a:r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휴양 중심 관광지</a:t>
              </a:r>
              <a:endPara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21BAE81A-21F9-F753-8819-E31D0FFDD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25157" y="2233927"/>
              <a:ext cx="387722" cy="387722"/>
            </a:xfrm>
            <a:prstGeom prst="rect">
              <a:avLst/>
            </a:prstGeom>
          </p:spPr>
        </p:pic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DD6EF69F-3B13-19DC-BC71-53359A516223}"/>
                </a:ext>
              </a:extLst>
            </p:cNvPr>
            <p:cNvSpPr/>
            <p:nvPr/>
          </p:nvSpPr>
          <p:spPr>
            <a:xfrm>
              <a:off x="2581275" y="2979904"/>
              <a:ext cx="2332138" cy="4969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해인사 등 자연경관 주변에 </a:t>
              </a:r>
              <a:endPara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r"/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위치한</a:t>
              </a:r>
              <a:r>
                <a:rPr lang="en-US" altLang="ko-KR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</a:t>
              </a:r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역사적인 문화유산</a:t>
              </a:r>
              <a:endPara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9FF51812-72CA-2727-C7BF-F73CA46A8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691863" y="3019553"/>
              <a:ext cx="422812" cy="422812"/>
            </a:xfrm>
            <a:prstGeom prst="rect">
              <a:avLst/>
            </a:prstGeom>
          </p:spPr>
        </p:pic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68B899BF-0A5A-3799-C63B-EAA5EFBE0D44}"/>
                </a:ext>
              </a:extLst>
            </p:cNvPr>
            <p:cNvSpPr/>
            <p:nvPr/>
          </p:nvSpPr>
          <p:spPr>
            <a:xfrm>
              <a:off x="3210484" y="5046586"/>
              <a:ext cx="2233278" cy="6763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의령 구름다리 등</a:t>
              </a:r>
              <a:endPara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r"/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자연경관을 감상할 수</a:t>
              </a:r>
              <a:endPara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pPr algn="r"/>
              <a:r>
                <a:rPr lang="en-US" altLang="ko-KR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</a:t>
              </a:r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있는 관광지</a:t>
              </a:r>
              <a:endPara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8F3A8664-2CEF-40B1-FC13-143FEB431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322330" y="5085217"/>
              <a:ext cx="578146" cy="5781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4965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C850BFE-2F2A-EFDF-5441-C87E04CDB0D8}"/>
              </a:ext>
            </a:extLst>
          </p:cNvPr>
          <p:cNvSpPr/>
          <p:nvPr/>
        </p:nvSpPr>
        <p:spPr>
          <a:xfrm>
            <a:off x="167640" y="1509773"/>
            <a:ext cx="11866154" cy="508565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8">
            <a:extLst>
              <a:ext uri="{FF2B5EF4-FFF2-40B4-BE49-F238E27FC236}">
                <a16:creationId xmlns:a16="http://schemas.microsoft.com/office/drawing/2014/main" id="{9714D873-8700-78D4-352B-715BAF30BA00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4.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정책 제안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(1)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8D41B-B5D8-3909-F4E0-EF732908E858}"/>
              </a:ext>
            </a:extLst>
          </p:cNvPr>
          <p:cNvSpPr txBox="1"/>
          <p:nvPr/>
        </p:nvSpPr>
        <p:spPr>
          <a:xfrm>
            <a:off x="11766686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20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F56F04-CA68-B9B8-40CF-3B67992BADF1}"/>
              </a:ext>
            </a:extLst>
          </p:cNvPr>
          <p:cNvSpPr txBox="1"/>
          <p:nvPr/>
        </p:nvSpPr>
        <p:spPr>
          <a:xfrm>
            <a:off x="0" y="933689"/>
            <a:ext cx="12182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한방 중점 </a:t>
            </a:r>
            <a:r>
              <a:rPr lang="ko-KR" altLang="en-US" sz="24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웰니스</a:t>
            </a:r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관광 코스 구축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61064E-DC52-FF19-6534-6337AB178FC4}"/>
              </a:ext>
            </a:extLst>
          </p:cNvPr>
          <p:cNvSpPr txBox="1"/>
          <p:nvPr/>
        </p:nvSpPr>
        <p:spPr>
          <a:xfrm>
            <a:off x="1483486" y="1786178"/>
            <a:ext cx="370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③</a:t>
            </a:r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전라남도 강진</a:t>
            </a:r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보성</a:t>
            </a:r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장흥</a:t>
            </a:r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완도</a:t>
            </a:r>
            <a:endParaRPr lang="ko-KR" altLang="en-US" sz="2000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51416BF-2E34-4CDB-538B-E3777C9BD753}"/>
              </a:ext>
            </a:extLst>
          </p:cNvPr>
          <p:cNvGrpSpPr/>
          <p:nvPr/>
        </p:nvGrpSpPr>
        <p:grpSpPr>
          <a:xfrm>
            <a:off x="1429691" y="2332539"/>
            <a:ext cx="3787642" cy="3225235"/>
            <a:chOff x="4042905" y="2469096"/>
            <a:chExt cx="2425388" cy="206525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28326511-CD6C-932D-A832-7E712AA93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0536" r="32441"/>
            <a:stretch/>
          </p:blipFill>
          <p:spPr>
            <a:xfrm>
              <a:off x="4042905" y="2469096"/>
              <a:ext cx="2425388" cy="2055981"/>
            </a:xfrm>
            <a:prstGeom prst="rect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</p:pic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9B183B0F-7494-BB97-C960-D32ED5D90F46}"/>
                </a:ext>
              </a:extLst>
            </p:cNvPr>
            <p:cNvSpPr/>
            <p:nvPr/>
          </p:nvSpPr>
          <p:spPr>
            <a:xfrm>
              <a:off x="5416347" y="3593650"/>
              <a:ext cx="282262" cy="268231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AAF91E4F-8B3E-6A1C-06EB-A4EFD425C99B}"/>
                </a:ext>
              </a:extLst>
            </p:cNvPr>
            <p:cNvSpPr/>
            <p:nvPr/>
          </p:nvSpPr>
          <p:spPr>
            <a:xfrm>
              <a:off x="4891729" y="4188568"/>
              <a:ext cx="363870" cy="34578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CBCA851D-A744-AB74-24C9-E15D4F5A8EC2}"/>
                </a:ext>
              </a:extLst>
            </p:cNvPr>
            <p:cNvSpPr/>
            <p:nvPr/>
          </p:nvSpPr>
          <p:spPr>
            <a:xfrm>
              <a:off x="5775015" y="3218589"/>
              <a:ext cx="363870" cy="34578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916B5A7-3AEA-A501-0F59-0A75E02B17AA}"/>
                </a:ext>
              </a:extLst>
            </p:cNvPr>
            <p:cNvSpPr/>
            <p:nvPr/>
          </p:nvSpPr>
          <p:spPr>
            <a:xfrm>
              <a:off x="5010895" y="3534785"/>
              <a:ext cx="325071" cy="30891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3064C3D-CCE3-B476-3767-2759E57465C9}"/>
              </a:ext>
            </a:extLst>
          </p:cNvPr>
          <p:cNvSpPr txBox="1"/>
          <p:nvPr/>
        </p:nvSpPr>
        <p:spPr>
          <a:xfrm>
            <a:off x="6746580" y="1788684"/>
            <a:ext cx="4753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④</a:t>
            </a:r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전라북도 진안</a:t>
            </a:r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정읍</a:t>
            </a:r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남원</a:t>
            </a:r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전라남도 구례</a:t>
            </a:r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endParaRPr lang="ko-KR" altLang="en-US" sz="2000" dirty="0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2DBE0ED-D222-6B59-564B-445516ED9798}"/>
              </a:ext>
            </a:extLst>
          </p:cNvPr>
          <p:cNvCxnSpPr>
            <a:cxnSpLocks/>
          </p:cNvCxnSpPr>
          <p:nvPr/>
        </p:nvCxnSpPr>
        <p:spPr>
          <a:xfrm flipH="1">
            <a:off x="6203950" y="1698153"/>
            <a:ext cx="19050" cy="387401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436DE96-B1C0-EF3D-2FC3-3475DA15BD25}"/>
              </a:ext>
            </a:extLst>
          </p:cNvPr>
          <p:cNvGrpSpPr/>
          <p:nvPr/>
        </p:nvGrpSpPr>
        <p:grpSpPr>
          <a:xfrm>
            <a:off x="6837489" y="2336726"/>
            <a:ext cx="4973353" cy="3235444"/>
            <a:chOff x="6911430" y="2215347"/>
            <a:chExt cx="4973353" cy="3235444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822C8F3-E48C-B8C1-E2ED-F0A83321E07E}"/>
                </a:ext>
              </a:extLst>
            </p:cNvPr>
            <p:cNvGrpSpPr/>
            <p:nvPr/>
          </p:nvGrpSpPr>
          <p:grpSpPr>
            <a:xfrm>
              <a:off x="7288748" y="2215347"/>
              <a:ext cx="3816770" cy="3235444"/>
              <a:chOff x="1574800" y="2458869"/>
              <a:chExt cx="2425388" cy="2055981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E1B2D6C9-8FFA-298C-38B9-FB5AFE1999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4431" t="4635" b="40036"/>
              <a:stretch/>
            </p:blipFill>
            <p:spPr>
              <a:xfrm>
                <a:off x="1574800" y="2458869"/>
                <a:ext cx="2425388" cy="2055981"/>
              </a:xfrm>
              <a:prstGeom prst="rect">
                <a:avLst/>
              </a:prstGeom>
              <a:ln>
                <a:solidFill>
                  <a:schemeClr val="accent1">
                    <a:lumMod val="50000"/>
                  </a:schemeClr>
                </a:solidFill>
              </a:ln>
            </p:spPr>
          </p:pic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D5127091-89C2-557C-A6A5-9168BC45A7C1}"/>
                  </a:ext>
                </a:extLst>
              </p:cNvPr>
              <p:cNvSpPr/>
              <p:nvPr/>
            </p:nvSpPr>
            <p:spPr>
              <a:xfrm>
                <a:off x="2071773" y="3173420"/>
                <a:ext cx="323667" cy="323667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C477743F-F193-A08A-9F9B-93EFD61DE72E}"/>
                  </a:ext>
                </a:extLst>
              </p:cNvPr>
              <p:cNvSpPr/>
              <p:nvPr/>
            </p:nvSpPr>
            <p:spPr>
              <a:xfrm>
                <a:off x="3027043" y="2770734"/>
                <a:ext cx="323667" cy="323667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689729DF-0B6A-2206-A246-FF2555328731}"/>
                  </a:ext>
                </a:extLst>
              </p:cNvPr>
              <p:cNvSpPr/>
              <p:nvPr/>
            </p:nvSpPr>
            <p:spPr>
              <a:xfrm>
                <a:off x="2977965" y="4027215"/>
                <a:ext cx="323667" cy="323667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4B7E3452-3A4F-A6A1-4CE5-EA569AC275ED}"/>
                  </a:ext>
                </a:extLst>
              </p:cNvPr>
              <p:cNvSpPr/>
              <p:nvPr/>
            </p:nvSpPr>
            <p:spPr>
              <a:xfrm>
                <a:off x="2914465" y="3610955"/>
                <a:ext cx="323667" cy="323667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8CD7FD98-E8ED-9EF3-38FC-7D1BBCA6A977}"/>
                </a:ext>
              </a:extLst>
            </p:cNvPr>
            <p:cNvGrpSpPr/>
            <p:nvPr/>
          </p:nvGrpSpPr>
          <p:grpSpPr>
            <a:xfrm>
              <a:off x="6911430" y="2785694"/>
              <a:ext cx="1711387" cy="496913"/>
              <a:chOff x="8428629" y="894071"/>
              <a:chExt cx="1711387" cy="591155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810DB7DC-9A35-A8F8-0043-F388DC434F21}"/>
                  </a:ext>
                </a:extLst>
              </p:cNvPr>
              <p:cNvSpPr/>
              <p:nvPr/>
            </p:nvSpPr>
            <p:spPr>
              <a:xfrm>
                <a:off x="8428629" y="894071"/>
                <a:ext cx="1711387" cy="5911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200" dirty="0">
                    <a:solidFill>
                      <a:schemeClr val="tx1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           ① 한방차를 통한 </a:t>
                </a:r>
                <a:endParaRPr lang="en-US" altLang="ko-KR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  <a:p>
                <a:r>
                  <a:rPr lang="en-US" altLang="ko-KR" sz="1200" dirty="0">
                    <a:solidFill>
                      <a:schemeClr val="tx1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               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힐링 치유</a:t>
                </a: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B96F0D65-C101-A371-2677-7672EDAF68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87249" y="957917"/>
                <a:ext cx="434173" cy="434173"/>
              </a:xfrm>
              <a:prstGeom prst="rect">
                <a:avLst/>
              </a:prstGeom>
            </p:spPr>
          </p:pic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24D1C290-B6AC-E6E6-FA7C-157FA8DBCACF}"/>
                </a:ext>
              </a:extLst>
            </p:cNvPr>
            <p:cNvGrpSpPr/>
            <p:nvPr/>
          </p:nvGrpSpPr>
          <p:grpSpPr>
            <a:xfrm>
              <a:off x="10173396" y="2706121"/>
              <a:ext cx="1711387" cy="496913"/>
              <a:chOff x="9528866" y="2298530"/>
              <a:chExt cx="1711387" cy="496913"/>
            </a:xfrm>
          </p:grpSpPr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90D4966E-6607-8254-4A6D-90724BC8524D}"/>
                  </a:ext>
                </a:extLst>
              </p:cNvPr>
              <p:cNvSpPr/>
              <p:nvPr/>
            </p:nvSpPr>
            <p:spPr>
              <a:xfrm>
                <a:off x="9528866" y="2298530"/>
                <a:ext cx="1711387" cy="4969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200" dirty="0">
                    <a:solidFill>
                      <a:schemeClr val="tx1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           ② 한방 스파와</a:t>
                </a:r>
                <a:endParaRPr lang="en-US" altLang="ko-KR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  <a:p>
                <a:r>
                  <a:rPr lang="en-US" altLang="ko-KR" sz="1200" dirty="0">
                    <a:solidFill>
                      <a:schemeClr val="tx1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               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마사지 체험</a:t>
                </a:r>
              </a:p>
            </p:txBody>
          </p:sp>
          <p:pic>
            <p:nvPicPr>
              <p:cNvPr id="42" name="그림 41">
                <a:extLst>
                  <a:ext uri="{FF2B5EF4-FFF2-40B4-BE49-F238E27FC236}">
                    <a16:creationId xmlns:a16="http://schemas.microsoft.com/office/drawing/2014/main" id="{70FB9BDA-D5D7-E68F-28DC-6395E2ACBA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32405" y="2358474"/>
                <a:ext cx="374005" cy="374005"/>
              </a:xfrm>
              <a:prstGeom prst="rect">
                <a:avLst/>
              </a:prstGeom>
            </p:spPr>
          </p:pic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70DA75F5-5D94-948A-2F0F-CDDB9B4D1F3C}"/>
                </a:ext>
              </a:extLst>
            </p:cNvPr>
            <p:cNvGrpSpPr/>
            <p:nvPr/>
          </p:nvGrpSpPr>
          <p:grpSpPr>
            <a:xfrm>
              <a:off x="10016951" y="4004663"/>
              <a:ext cx="1711387" cy="496913"/>
              <a:chOff x="10016951" y="4004663"/>
              <a:chExt cx="1711387" cy="496913"/>
            </a:xfrm>
          </p:grpSpPr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3E546E91-817C-CA9B-261C-9E47F3EBFE35}"/>
                  </a:ext>
                </a:extLst>
              </p:cNvPr>
              <p:cNvSpPr/>
              <p:nvPr/>
            </p:nvSpPr>
            <p:spPr>
              <a:xfrm>
                <a:off x="10016951" y="4004663"/>
                <a:ext cx="1711387" cy="4969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200" dirty="0">
                    <a:solidFill>
                      <a:schemeClr val="tx1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           ③ 온천과 </a:t>
                </a:r>
                <a:endParaRPr lang="en-US" altLang="ko-KR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endParaRPr>
              </a:p>
              <a:p>
                <a:r>
                  <a:rPr lang="en-US" altLang="ko-KR" sz="1200" dirty="0">
                    <a:solidFill>
                      <a:schemeClr val="tx1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               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한방 치유</a:t>
                </a:r>
              </a:p>
            </p:txBody>
          </p:sp>
          <p:pic>
            <p:nvPicPr>
              <p:cNvPr id="48" name="그림 47">
                <a:extLst>
                  <a:ext uri="{FF2B5EF4-FFF2-40B4-BE49-F238E27FC236}">
                    <a16:creationId xmlns:a16="http://schemas.microsoft.com/office/drawing/2014/main" id="{81187FF3-25C1-9D73-3289-A04D0CB357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05878" y="4052601"/>
                <a:ext cx="400026" cy="400024"/>
              </a:xfrm>
              <a:prstGeom prst="rect">
                <a:avLst/>
              </a:prstGeom>
            </p:spPr>
          </p:pic>
        </p:grp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3C41759-4028-BC64-8D4B-F349AA6F0E80}"/>
                </a:ext>
              </a:extLst>
            </p:cNvPr>
            <p:cNvSpPr/>
            <p:nvPr/>
          </p:nvSpPr>
          <p:spPr>
            <a:xfrm>
              <a:off x="7685557" y="4721497"/>
              <a:ext cx="1711387" cy="4969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          ④ 지리산 자락</a:t>
              </a:r>
              <a:endPara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              </a:t>
              </a:r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약초 힐링</a:t>
              </a:r>
            </a:p>
          </p:txBody>
        </p:sp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09DFC375-F298-A202-82F1-5A41EECF1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97025" y="4779296"/>
              <a:ext cx="381314" cy="381314"/>
            </a:xfrm>
            <a:prstGeom prst="rect">
              <a:avLst/>
            </a:prstGeom>
          </p:spPr>
        </p:pic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36FC5FFF-BE39-3866-D2E8-2B66E48EF96E}"/>
              </a:ext>
            </a:extLst>
          </p:cNvPr>
          <p:cNvSpPr txBox="1"/>
          <p:nvPr/>
        </p:nvSpPr>
        <p:spPr>
          <a:xfrm>
            <a:off x="9816" y="5714737"/>
            <a:ext cx="121821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각 지역의 한방 </a:t>
            </a:r>
            <a:r>
              <a:rPr lang="ko-KR" altLang="en-US" sz="24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웰니스</a:t>
            </a:r>
            <a:r>
              <a:rPr lang="ko-KR" altLang="en-US" sz="2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프로그램을 하루씩 체험하는</a:t>
            </a:r>
            <a:endParaRPr lang="en-US" altLang="ko-KR" sz="2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한방 체험 코스</a:t>
            </a: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2A73CFE0-EE91-6C6E-EFF4-1216544E518B}"/>
              </a:ext>
            </a:extLst>
          </p:cNvPr>
          <p:cNvCxnSpPr>
            <a:cxnSpLocks/>
            <a:stCxn id="16" idx="6"/>
            <a:endCxn id="17" idx="3"/>
          </p:cNvCxnSpPr>
          <p:nvPr/>
        </p:nvCxnSpPr>
        <p:spPr>
          <a:xfrm flipV="1">
            <a:off x="8506226" y="3262254"/>
            <a:ext cx="1068530" cy="4536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AFEE2E39-0345-F217-2FCB-9A02B570178D}"/>
              </a:ext>
            </a:extLst>
          </p:cNvPr>
          <p:cNvCxnSpPr>
            <a:cxnSpLocks/>
            <a:stCxn id="17" idx="4"/>
            <a:endCxn id="22" idx="0"/>
          </p:cNvCxnSpPr>
          <p:nvPr/>
        </p:nvCxnSpPr>
        <p:spPr>
          <a:xfrm flipH="1">
            <a:off x="9577676" y="3336846"/>
            <a:ext cx="177161" cy="8128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27552A5D-11DA-ECA0-3CF5-BC5BC52EB489}"/>
              </a:ext>
            </a:extLst>
          </p:cNvPr>
          <p:cNvCxnSpPr>
            <a:cxnSpLocks/>
            <a:stCxn id="22" idx="4"/>
          </p:cNvCxnSpPr>
          <p:nvPr/>
        </p:nvCxnSpPr>
        <p:spPr>
          <a:xfrm>
            <a:off x="9577676" y="4659080"/>
            <a:ext cx="117405" cy="18066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1733BE2-A645-52DF-9720-001C81C5D1B0}"/>
              </a:ext>
            </a:extLst>
          </p:cNvPr>
          <p:cNvSpPr/>
          <p:nvPr/>
        </p:nvSpPr>
        <p:spPr>
          <a:xfrm>
            <a:off x="1094736" y="3937225"/>
            <a:ext cx="1751995" cy="4969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      ② 농업 자원 기반</a:t>
            </a:r>
            <a:endParaRPr lang="en-US" altLang="ko-KR" sz="12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          </a:t>
            </a:r>
            <a:r>
              <a:rPr lang="ko-KR" altLang="en-US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한방 농업 치유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A14E0406-9C75-62E1-F4E7-1B77C4055110}"/>
              </a:ext>
            </a:extLst>
          </p:cNvPr>
          <p:cNvGrpSpPr/>
          <p:nvPr/>
        </p:nvGrpSpPr>
        <p:grpSpPr>
          <a:xfrm>
            <a:off x="806871" y="5033532"/>
            <a:ext cx="1849332" cy="496913"/>
            <a:chOff x="2867630" y="2659682"/>
            <a:chExt cx="1751995" cy="496913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900E040C-B7F1-46EE-B008-0E2FB0DB2966}"/>
                </a:ext>
              </a:extLst>
            </p:cNvPr>
            <p:cNvSpPr/>
            <p:nvPr/>
          </p:nvSpPr>
          <p:spPr>
            <a:xfrm>
              <a:off x="2867630" y="2659682"/>
              <a:ext cx="1751995" cy="4969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          ① </a:t>
              </a:r>
              <a:r>
                <a:rPr lang="ko-KR" altLang="en-US" sz="1200" dirty="0" err="1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해수스파를</a:t>
              </a:r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통한</a:t>
              </a:r>
              <a:endPara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              </a:t>
              </a:r>
              <a:r>
                <a:rPr lang="ko-KR" altLang="en-US" sz="1200" dirty="0">
                  <a:solidFill>
                    <a:schemeClr val="tx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한방 해양 치유</a:t>
              </a:r>
            </a:p>
          </p:txBody>
        </p:sp>
        <p:pic>
          <p:nvPicPr>
            <p:cNvPr id="87" name="그림 86">
              <a:extLst>
                <a:ext uri="{FF2B5EF4-FFF2-40B4-BE49-F238E27FC236}">
                  <a16:creationId xmlns:a16="http://schemas.microsoft.com/office/drawing/2014/main" id="{5AE04E5E-409D-17E7-98AB-43CB971DA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31022" y="2694594"/>
              <a:ext cx="392490" cy="392488"/>
            </a:xfrm>
            <a:prstGeom prst="rect">
              <a:avLst/>
            </a:prstGeom>
          </p:spPr>
        </p:pic>
      </p:grpSp>
      <p:pic>
        <p:nvPicPr>
          <p:cNvPr id="89" name="그림 88">
            <a:extLst>
              <a:ext uri="{FF2B5EF4-FFF2-40B4-BE49-F238E27FC236}">
                <a16:creationId xmlns:a16="http://schemas.microsoft.com/office/drawing/2014/main" id="{E2F3EC89-2795-2307-4080-58221F8E44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4936" y="3996787"/>
            <a:ext cx="349030" cy="349030"/>
          </a:xfrm>
          <a:prstGeom prst="rect">
            <a:avLst/>
          </a:prstGeom>
        </p:spPr>
      </p:pic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A2ECAEEC-08E2-A274-7A2C-7662B66E1341}"/>
              </a:ext>
            </a:extLst>
          </p:cNvPr>
          <p:cNvCxnSpPr>
            <a:cxnSpLocks/>
            <a:stCxn id="27" idx="0"/>
            <a:endCxn id="29" idx="4"/>
          </p:cNvCxnSpPr>
          <p:nvPr/>
        </p:nvCxnSpPr>
        <p:spPr>
          <a:xfrm flipV="1">
            <a:off x="3039391" y="4479205"/>
            <a:ext cx="155801" cy="5385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126D450-9C53-6626-D803-898D627575FE}"/>
              </a:ext>
            </a:extLst>
          </p:cNvPr>
          <p:cNvCxnSpPr>
            <a:cxnSpLocks/>
            <a:stCxn id="29" idx="6"/>
            <a:endCxn id="26" idx="2"/>
          </p:cNvCxnSpPr>
          <p:nvPr/>
        </p:nvCxnSpPr>
        <p:spPr>
          <a:xfrm>
            <a:off x="3449018" y="4237996"/>
            <a:ext cx="125528" cy="601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4C6E6DCE-72B8-21A0-C52D-5A363700D7FB}"/>
              </a:ext>
            </a:extLst>
          </p:cNvPr>
          <p:cNvCxnSpPr>
            <a:cxnSpLocks/>
            <a:stCxn id="26" idx="7"/>
          </p:cNvCxnSpPr>
          <p:nvPr/>
        </p:nvCxnSpPr>
        <p:spPr>
          <a:xfrm flipV="1">
            <a:off x="3950791" y="3983811"/>
            <a:ext cx="252727" cy="16624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D72372A3-B9C7-FC35-713B-30234EE1B097}"/>
              </a:ext>
            </a:extLst>
          </p:cNvPr>
          <p:cNvSpPr/>
          <p:nvPr/>
        </p:nvSpPr>
        <p:spPr>
          <a:xfrm>
            <a:off x="3909491" y="4556143"/>
            <a:ext cx="1751995" cy="4969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      ③ 생약 </a:t>
            </a:r>
            <a:r>
              <a:rPr lang="ko-KR" altLang="en-US" sz="1200" dirty="0" err="1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족욕</a:t>
            </a:r>
            <a:r>
              <a:rPr lang="ko-KR" altLang="en-US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등</a:t>
            </a:r>
            <a:endParaRPr lang="en-US" altLang="ko-KR" sz="12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          한방 생약 치유</a:t>
            </a:r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72A2A410-9E45-0A1B-78BD-2DDC51CDA9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0002" y="4586704"/>
            <a:ext cx="426950" cy="426950"/>
          </a:xfrm>
          <a:prstGeom prst="rect">
            <a:avLst/>
          </a:prstGeom>
        </p:spPr>
      </p:pic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D3108A5-3A32-89B0-4088-A1DC63DF8AD1}"/>
              </a:ext>
            </a:extLst>
          </p:cNvPr>
          <p:cNvSpPr/>
          <p:nvPr/>
        </p:nvSpPr>
        <p:spPr>
          <a:xfrm>
            <a:off x="2846731" y="2901536"/>
            <a:ext cx="1856177" cy="4969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      ④ </a:t>
            </a:r>
            <a:r>
              <a:rPr lang="ko-KR" altLang="en-US" sz="1200" dirty="0" err="1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녹차스파</a:t>
            </a:r>
            <a:r>
              <a:rPr lang="ko-KR" altLang="en-US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체험 등 </a:t>
            </a:r>
            <a:endParaRPr lang="en-US" altLang="ko-KR" sz="12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          </a:t>
            </a:r>
            <a:r>
              <a:rPr lang="ko-KR" altLang="en-US" sz="1200" dirty="0" err="1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한방차</a:t>
            </a:r>
            <a:r>
              <a:rPr lang="ko-KR" altLang="en-US" sz="12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디톡스</a:t>
            </a:r>
            <a:endParaRPr lang="ko-KR" altLang="en-US" sz="1200" dirty="0">
              <a:solidFill>
                <a:schemeClr val="tx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108" name="그림 107">
            <a:extLst>
              <a:ext uri="{FF2B5EF4-FFF2-40B4-BE49-F238E27FC236}">
                <a16:creationId xmlns:a16="http://schemas.microsoft.com/office/drawing/2014/main" id="{3DA6213F-E699-A594-5F60-F96DD9AA14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11474" y="2947149"/>
            <a:ext cx="392988" cy="39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78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8">
            <a:extLst>
              <a:ext uri="{FF2B5EF4-FFF2-40B4-BE49-F238E27FC236}">
                <a16:creationId xmlns:a16="http://schemas.microsoft.com/office/drawing/2014/main" id="{9714D873-8700-78D4-352B-715BAF30BA00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4.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정책 제안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(2)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8D41B-B5D8-3909-F4E0-EF732908E858}"/>
              </a:ext>
            </a:extLst>
          </p:cNvPr>
          <p:cNvSpPr txBox="1"/>
          <p:nvPr/>
        </p:nvSpPr>
        <p:spPr>
          <a:xfrm>
            <a:off x="11766686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21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C8B96A-EF2E-5524-B58A-477B259215C6}"/>
              </a:ext>
            </a:extLst>
          </p:cNvPr>
          <p:cNvSpPr txBox="1"/>
          <p:nvPr/>
        </p:nvSpPr>
        <p:spPr>
          <a:xfrm>
            <a:off x="0" y="881798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긍정적인 요소 강화하기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F838EB7-6F3B-1431-677E-9DF3B4864F88}"/>
              </a:ext>
            </a:extLst>
          </p:cNvPr>
          <p:cNvSpPr/>
          <p:nvPr/>
        </p:nvSpPr>
        <p:spPr>
          <a:xfrm>
            <a:off x="191737" y="1462914"/>
            <a:ext cx="11826240" cy="521228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AC5C16C-C02F-8C2F-F531-ABB80A5C6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482" y="1618595"/>
            <a:ext cx="960120" cy="96012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AD975F6-6D1A-B5FD-075B-F6EFCE3563F9}"/>
              </a:ext>
            </a:extLst>
          </p:cNvPr>
          <p:cNvSpPr txBox="1"/>
          <p:nvPr/>
        </p:nvSpPr>
        <p:spPr>
          <a:xfrm>
            <a:off x="4707900" y="2719206"/>
            <a:ext cx="286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역사 관광 투어 활성화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64073F5-B215-ECB9-F3D1-F792E080805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alphaModFix amt="5000"/>
          </a:blip>
          <a:stretch>
            <a:fillRect/>
          </a:stretch>
        </p:blipFill>
        <p:spPr>
          <a:xfrm>
            <a:off x="287382" y="3889948"/>
            <a:ext cx="1855532" cy="185553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F6102B4-D3BB-6E5C-6175-42CD01009A9F}"/>
              </a:ext>
            </a:extLst>
          </p:cNvPr>
          <p:cNvSpPr txBox="1"/>
          <p:nvPr/>
        </p:nvSpPr>
        <p:spPr>
          <a:xfrm>
            <a:off x="3788578" y="3180871"/>
            <a:ext cx="4701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주 활동으로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역사 유적지를 방문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 경우 만족도 ↑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A444D7-68D8-3902-2EA3-6B1CAF456112}"/>
              </a:ext>
            </a:extLst>
          </p:cNvPr>
          <p:cNvSpPr txBox="1"/>
          <p:nvPr/>
        </p:nvSpPr>
        <p:spPr>
          <a:xfrm>
            <a:off x="534869" y="4682350"/>
            <a:ext cx="42482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주요 역사 유적지를 연결</a:t>
            </a:r>
            <a:r>
              <a:rPr lang="ko-KR" altLang="en-US" sz="2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하는</a:t>
            </a:r>
            <a:endParaRPr lang="en-US" altLang="ko-KR" sz="2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2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탐방 코스 개발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BE0099-C8B3-2F22-4884-5E0E5572AF94}"/>
              </a:ext>
            </a:extLst>
          </p:cNvPr>
          <p:cNvSpPr txBox="1"/>
          <p:nvPr/>
        </p:nvSpPr>
        <p:spPr>
          <a:xfrm>
            <a:off x="4966062" y="3825901"/>
            <a:ext cx="34772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사례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서울 한양 도성 스탬프투어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84290F5-2380-29F7-81AE-171DC434B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6082" y="4195233"/>
            <a:ext cx="3143689" cy="2210108"/>
          </a:xfrm>
          <a:prstGeom prst="rect">
            <a:avLst/>
          </a:prstGeom>
        </p:spPr>
      </p:pic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B10D7E3-E298-244A-9EF6-E7A02D081129}"/>
              </a:ext>
            </a:extLst>
          </p:cNvPr>
          <p:cNvCxnSpPr>
            <a:cxnSpLocks/>
          </p:cNvCxnSpPr>
          <p:nvPr/>
        </p:nvCxnSpPr>
        <p:spPr>
          <a:xfrm>
            <a:off x="195942" y="3688741"/>
            <a:ext cx="118262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73ECE8C-E061-B094-571C-E74F4539DC46}"/>
              </a:ext>
            </a:extLst>
          </p:cNvPr>
          <p:cNvSpPr txBox="1"/>
          <p:nvPr/>
        </p:nvSpPr>
        <p:spPr>
          <a:xfrm>
            <a:off x="5110842" y="6400672"/>
            <a:ext cx="1489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출처 </a:t>
            </a:r>
            <a:r>
              <a:rPr lang="en-US" altLang="ko-KR" sz="1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서울 한양 도성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A48D27-C611-D692-2389-ECD2D3479E39}"/>
              </a:ext>
            </a:extLst>
          </p:cNvPr>
          <p:cNvSpPr txBox="1"/>
          <p:nvPr/>
        </p:nvSpPr>
        <p:spPr>
          <a:xfrm>
            <a:off x="8429791" y="4621421"/>
            <a:ext cx="30091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여러 역사 유적지를 </a:t>
            </a:r>
            <a:endParaRPr lang="en-US" altLang="ko-KR" dirty="0">
              <a:solidFill>
                <a:schemeClr val="accent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 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경유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하는 도보 코스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특정 장소에서 스탬프를 발급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완주 시 인증서 발급</a:t>
            </a:r>
          </a:p>
        </p:txBody>
      </p:sp>
    </p:spTree>
    <p:extLst>
      <p:ext uri="{BB962C8B-B14F-4D97-AF65-F5344CB8AC3E}">
        <p14:creationId xmlns:p14="http://schemas.microsoft.com/office/powerpoint/2010/main" val="157114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F838EB7-6F3B-1431-677E-9DF3B4864F88}"/>
              </a:ext>
            </a:extLst>
          </p:cNvPr>
          <p:cNvSpPr/>
          <p:nvPr/>
        </p:nvSpPr>
        <p:spPr>
          <a:xfrm>
            <a:off x="191737" y="1462914"/>
            <a:ext cx="11826240" cy="521228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6BAFE0-31BA-70A8-E7A2-1F468AAC9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163" y="1591682"/>
            <a:ext cx="998757" cy="998757"/>
          </a:xfrm>
          <a:prstGeom prst="rect">
            <a:avLst/>
          </a:prstGeom>
        </p:spPr>
      </p:pic>
      <p:sp>
        <p:nvSpPr>
          <p:cNvPr id="3" name="직사각형 8">
            <a:extLst>
              <a:ext uri="{FF2B5EF4-FFF2-40B4-BE49-F238E27FC236}">
                <a16:creationId xmlns:a16="http://schemas.microsoft.com/office/drawing/2014/main" id="{9714D873-8700-78D4-352B-715BAF30BA00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4.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정책 제안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(2)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8D41B-B5D8-3909-F4E0-EF732908E858}"/>
              </a:ext>
            </a:extLst>
          </p:cNvPr>
          <p:cNvSpPr txBox="1"/>
          <p:nvPr/>
        </p:nvSpPr>
        <p:spPr>
          <a:xfrm>
            <a:off x="11766686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22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C8B96A-EF2E-5524-B58A-477B259215C6}"/>
              </a:ext>
            </a:extLst>
          </p:cNvPr>
          <p:cNvSpPr txBox="1"/>
          <p:nvPr/>
        </p:nvSpPr>
        <p:spPr>
          <a:xfrm>
            <a:off x="0" y="881798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긍정적인 요소 강화하기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D975F6-6D1A-B5FD-075B-F6EFCE3563F9}"/>
              </a:ext>
            </a:extLst>
          </p:cNvPr>
          <p:cNvSpPr txBox="1"/>
          <p:nvPr/>
        </p:nvSpPr>
        <p:spPr>
          <a:xfrm>
            <a:off x="4038650" y="2719206"/>
            <a:ext cx="4201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재방문 관광객에게 인센티브 제공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6102B4-D3BB-6E5C-6175-42CD01009A9F}"/>
              </a:ext>
            </a:extLst>
          </p:cNvPr>
          <p:cNvSpPr txBox="1"/>
          <p:nvPr/>
        </p:nvSpPr>
        <p:spPr>
          <a:xfrm>
            <a:off x="3720463" y="3180871"/>
            <a:ext cx="4838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재방문 의향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타인 추천 의향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 높을 수록 만족도 ↑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B10D7E3-E298-244A-9EF6-E7A02D081129}"/>
              </a:ext>
            </a:extLst>
          </p:cNvPr>
          <p:cNvCxnSpPr>
            <a:cxnSpLocks/>
          </p:cNvCxnSpPr>
          <p:nvPr/>
        </p:nvCxnSpPr>
        <p:spPr>
          <a:xfrm>
            <a:off x="195942" y="3688741"/>
            <a:ext cx="118262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4519E8F7-BFF9-85AF-1CA3-377EC1E6F79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alphaModFix amt="5000"/>
          </a:blip>
          <a:stretch>
            <a:fillRect/>
          </a:stretch>
        </p:blipFill>
        <p:spPr>
          <a:xfrm>
            <a:off x="4013954" y="3789238"/>
            <a:ext cx="2059207" cy="205920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3A444D7-68D8-3902-2EA3-6B1CAF456112}"/>
              </a:ext>
            </a:extLst>
          </p:cNvPr>
          <p:cNvSpPr txBox="1"/>
          <p:nvPr/>
        </p:nvSpPr>
        <p:spPr>
          <a:xfrm>
            <a:off x="4408944" y="4645687"/>
            <a:ext cx="38314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관광객의 관심도를 파악</a:t>
            </a:r>
            <a:r>
              <a:rPr lang="ko-KR" altLang="en-US" sz="2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</a:t>
            </a:r>
            <a:endParaRPr lang="en-US" altLang="ko-KR" sz="2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2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인센티브 제공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847392-2F0D-171F-8F17-0D28864E501C}"/>
              </a:ext>
            </a:extLst>
          </p:cNvPr>
          <p:cNvSpPr txBox="1"/>
          <p:nvPr/>
        </p:nvSpPr>
        <p:spPr>
          <a:xfrm>
            <a:off x="3803181" y="5861714"/>
            <a:ext cx="4964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과거 여행 이력을 고려한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맞춤형 할인 쿠폰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제공</a:t>
            </a:r>
          </a:p>
        </p:txBody>
      </p:sp>
    </p:spTree>
    <p:extLst>
      <p:ext uri="{BB962C8B-B14F-4D97-AF65-F5344CB8AC3E}">
        <p14:creationId xmlns:p14="http://schemas.microsoft.com/office/powerpoint/2010/main" val="788280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F838EB7-6F3B-1431-677E-9DF3B4864F88}"/>
              </a:ext>
            </a:extLst>
          </p:cNvPr>
          <p:cNvSpPr/>
          <p:nvPr/>
        </p:nvSpPr>
        <p:spPr>
          <a:xfrm>
            <a:off x="191737" y="1462914"/>
            <a:ext cx="11826240" cy="521228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E751CA1-2905-C7E3-B9F9-0DFDBEA89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163" y="1602019"/>
            <a:ext cx="998757" cy="998757"/>
          </a:xfrm>
          <a:prstGeom prst="rect">
            <a:avLst/>
          </a:prstGeom>
        </p:spPr>
      </p:pic>
      <p:sp>
        <p:nvSpPr>
          <p:cNvPr id="3" name="직사각형 8">
            <a:extLst>
              <a:ext uri="{FF2B5EF4-FFF2-40B4-BE49-F238E27FC236}">
                <a16:creationId xmlns:a16="http://schemas.microsoft.com/office/drawing/2014/main" id="{9714D873-8700-78D4-352B-715BAF30BA00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4.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정책 제안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(2)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8D41B-B5D8-3909-F4E0-EF732908E858}"/>
              </a:ext>
            </a:extLst>
          </p:cNvPr>
          <p:cNvSpPr txBox="1"/>
          <p:nvPr/>
        </p:nvSpPr>
        <p:spPr>
          <a:xfrm>
            <a:off x="11766686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23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C8B96A-EF2E-5524-B58A-477B259215C6}"/>
              </a:ext>
            </a:extLst>
          </p:cNvPr>
          <p:cNvSpPr txBox="1"/>
          <p:nvPr/>
        </p:nvSpPr>
        <p:spPr>
          <a:xfrm>
            <a:off x="0" y="881798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부정적인 요소 보완하기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D975F6-6D1A-B5FD-075B-F6EFCE3563F9}"/>
              </a:ext>
            </a:extLst>
          </p:cNvPr>
          <p:cNvSpPr txBox="1"/>
          <p:nvPr/>
        </p:nvSpPr>
        <p:spPr>
          <a:xfrm>
            <a:off x="4707905" y="2719206"/>
            <a:ext cx="286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관광지 정보 제공 강화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6102B4-D3BB-6E5C-6175-42CD01009A9F}"/>
              </a:ext>
            </a:extLst>
          </p:cNvPr>
          <p:cNvSpPr txBox="1"/>
          <p:nvPr/>
        </p:nvSpPr>
        <p:spPr>
          <a:xfrm>
            <a:off x="3758134" y="3180871"/>
            <a:ext cx="4762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여행에 대한 사전 정보 없이 방문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 경우 만족도 ↓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B10D7E3-E298-244A-9EF6-E7A02D081129}"/>
              </a:ext>
            </a:extLst>
          </p:cNvPr>
          <p:cNvCxnSpPr>
            <a:cxnSpLocks/>
          </p:cNvCxnSpPr>
          <p:nvPr/>
        </p:nvCxnSpPr>
        <p:spPr>
          <a:xfrm>
            <a:off x="195942" y="3688741"/>
            <a:ext cx="118262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6A9D059-3EF2-7CEE-2E0D-107B16D89F50}"/>
              </a:ext>
            </a:extLst>
          </p:cNvPr>
          <p:cNvSpPr txBox="1"/>
          <p:nvPr/>
        </p:nvSpPr>
        <p:spPr>
          <a:xfrm>
            <a:off x="964563" y="5406698"/>
            <a:ext cx="49648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지역 홍보 계정을 통해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사전에 쉽게 접근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가능한</a:t>
            </a:r>
            <a:endParaRPr lang="en-US" altLang="ko-KR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다양한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미디어 콘텐츠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제작</a:t>
            </a:r>
            <a:endParaRPr lang="ko-KR" altLang="en-US" sz="2000" dirty="0">
              <a:solidFill>
                <a:schemeClr val="accent1">
                  <a:lumMod val="5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EB64093-4C5F-BAEE-A82F-4303FE58A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843" y="4239822"/>
            <a:ext cx="960260" cy="96026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64BAD05-0FAB-54AD-07A3-964F7C3B1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995" y="4068778"/>
            <a:ext cx="1132685" cy="113268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B69BAC3-DA78-9E6B-486A-6197DE17F600}"/>
              </a:ext>
            </a:extLst>
          </p:cNvPr>
          <p:cNvSpPr txBox="1"/>
          <p:nvPr/>
        </p:nvSpPr>
        <p:spPr>
          <a:xfrm>
            <a:off x="7110716" y="5421807"/>
            <a:ext cx="36952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현장에서 쉽게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정보를 얻을 수 있게</a:t>
            </a:r>
            <a:endParaRPr lang="en-US" altLang="ko-KR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 안내 센터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활성화</a:t>
            </a:r>
            <a:endParaRPr lang="ko-KR" altLang="en-US" sz="2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4255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F838EB7-6F3B-1431-677E-9DF3B4864F88}"/>
              </a:ext>
            </a:extLst>
          </p:cNvPr>
          <p:cNvSpPr/>
          <p:nvPr/>
        </p:nvSpPr>
        <p:spPr>
          <a:xfrm>
            <a:off x="191737" y="1462914"/>
            <a:ext cx="11826240" cy="521228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7C2ACF34-88E5-7514-97BA-5BA83B8D5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575" y="4049067"/>
            <a:ext cx="1132686" cy="1132686"/>
          </a:xfrm>
          <a:prstGeom prst="rect">
            <a:avLst/>
          </a:prstGeom>
        </p:spPr>
      </p:pic>
      <p:sp>
        <p:nvSpPr>
          <p:cNvPr id="3" name="직사각형 8">
            <a:extLst>
              <a:ext uri="{FF2B5EF4-FFF2-40B4-BE49-F238E27FC236}">
                <a16:creationId xmlns:a16="http://schemas.microsoft.com/office/drawing/2014/main" id="{9714D873-8700-78D4-352B-715BAF30BA00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4.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정책 제안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(2)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8D41B-B5D8-3909-F4E0-EF732908E858}"/>
              </a:ext>
            </a:extLst>
          </p:cNvPr>
          <p:cNvSpPr txBox="1"/>
          <p:nvPr/>
        </p:nvSpPr>
        <p:spPr>
          <a:xfrm>
            <a:off x="11766686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24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C8B96A-EF2E-5524-B58A-477B259215C6}"/>
              </a:ext>
            </a:extLst>
          </p:cNvPr>
          <p:cNvSpPr txBox="1"/>
          <p:nvPr/>
        </p:nvSpPr>
        <p:spPr>
          <a:xfrm>
            <a:off x="0" y="881798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부정적인 요소 보완하기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D975F6-6D1A-B5FD-075B-F6EFCE3563F9}"/>
              </a:ext>
            </a:extLst>
          </p:cNvPr>
          <p:cNvSpPr txBox="1"/>
          <p:nvPr/>
        </p:nvSpPr>
        <p:spPr>
          <a:xfrm>
            <a:off x="5154343" y="2719206"/>
            <a:ext cx="1970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숙박 여행 장려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6102B4-D3BB-6E5C-6175-42CD01009A9F}"/>
              </a:ext>
            </a:extLst>
          </p:cNvPr>
          <p:cNvSpPr txBox="1"/>
          <p:nvPr/>
        </p:nvSpPr>
        <p:spPr>
          <a:xfrm>
            <a:off x="4798483" y="3180871"/>
            <a:ext cx="268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당일 여행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인 경우 만족도 ↓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B10D7E3-E298-244A-9EF6-E7A02D081129}"/>
              </a:ext>
            </a:extLst>
          </p:cNvPr>
          <p:cNvCxnSpPr>
            <a:cxnSpLocks/>
          </p:cNvCxnSpPr>
          <p:nvPr/>
        </p:nvCxnSpPr>
        <p:spPr>
          <a:xfrm>
            <a:off x="195942" y="3688741"/>
            <a:ext cx="118262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6A9D059-3EF2-7CEE-2E0D-107B16D89F50}"/>
              </a:ext>
            </a:extLst>
          </p:cNvPr>
          <p:cNvSpPr txBox="1"/>
          <p:nvPr/>
        </p:nvSpPr>
        <p:spPr>
          <a:xfrm>
            <a:off x="1574727" y="5421807"/>
            <a:ext cx="35477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역사 유적지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자연 휴양림 등</a:t>
            </a:r>
            <a:endParaRPr lang="en-US" altLang="ko-KR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숙박옵션 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+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다양한 프로그램 결합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69BAC3-DA78-9E6B-486A-6197DE17F600}"/>
              </a:ext>
            </a:extLst>
          </p:cNvPr>
          <p:cNvSpPr txBox="1"/>
          <p:nvPr/>
        </p:nvSpPr>
        <p:spPr>
          <a:xfrm>
            <a:off x="7580613" y="5421807"/>
            <a:ext cx="2502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숙박시설의 질 개선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및</a:t>
            </a:r>
            <a:endParaRPr lang="en-US" altLang="ko-KR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ctr"/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주변 인프라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교통 개선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D558412-2227-36AE-B4DF-2D460D808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561" y="1621470"/>
            <a:ext cx="943947" cy="943947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FCD089FA-4B6D-6EDC-7896-FA6E8862484D}"/>
              </a:ext>
            </a:extLst>
          </p:cNvPr>
          <p:cNvGrpSpPr/>
          <p:nvPr/>
        </p:nvGrpSpPr>
        <p:grpSpPr>
          <a:xfrm>
            <a:off x="2053990" y="3977620"/>
            <a:ext cx="2404323" cy="1388438"/>
            <a:chOff x="1781315" y="3949659"/>
            <a:chExt cx="2404323" cy="1388438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579A0508-2D6E-03AD-C0A9-2B2687C11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  <a:alphaModFix amt="50000"/>
            </a:blip>
            <a:stretch>
              <a:fillRect/>
            </a:stretch>
          </p:blipFill>
          <p:spPr>
            <a:xfrm>
              <a:off x="2507528" y="4073026"/>
              <a:ext cx="1150855" cy="1150855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E0D75D7-FB26-376C-8CC8-0795F502A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81315" y="4095431"/>
              <a:ext cx="1021321" cy="1021321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7ECF12A0-4096-6341-52A9-140F3DC78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24682" y="3949659"/>
              <a:ext cx="750648" cy="750648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751D7CD6-2E16-BB03-5469-8F722E42C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4990" y="4587449"/>
              <a:ext cx="750648" cy="750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9262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8">
            <a:extLst>
              <a:ext uri="{FF2B5EF4-FFF2-40B4-BE49-F238E27FC236}">
                <a16:creationId xmlns:a16="http://schemas.microsoft.com/office/drawing/2014/main" id="{9714D873-8700-78D4-352B-715BAF30BA00}"/>
              </a:ext>
            </a:extLst>
          </p:cNvPr>
          <p:cNvSpPr/>
          <p:nvPr/>
        </p:nvSpPr>
        <p:spPr>
          <a:xfrm>
            <a:off x="-12700" y="1"/>
            <a:ext cx="12509500" cy="769442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15306-DD04-4849-E0DC-4211C288A013}"/>
              </a:ext>
            </a:extLst>
          </p:cNvPr>
          <p:cNvSpPr txBox="1"/>
          <p:nvPr/>
        </p:nvSpPr>
        <p:spPr>
          <a:xfrm>
            <a:off x="0" y="-25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4. 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기대효과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8D41B-B5D8-3909-F4E0-EF732908E858}"/>
              </a:ext>
            </a:extLst>
          </p:cNvPr>
          <p:cNvSpPr txBox="1"/>
          <p:nvPr/>
        </p:nvSpPr>
        <p:spPr>
          <a:xfrm>
            <a:off x="11766686" y="6504952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25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3255AD7-9BE5-E926-DAB3-1E5E4AFAD6EC}"/>
              </a:ext>
            </a:extLst>
          </p:cNvPr>
          <p:cNvSpPr/>
          <p:nvPr/>
        </p:nvSpPr>
        <p:spPr>
          <a:xfrm>
            <a:off x="894467" y="1451430"/>
            <a:ext cx="10962176" cy="8309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각 지역의 특색 있는 한방 체험 프로그램을 통한 지역 브랜드 가치와 관광지로서의 인지도 상승</a:t>
            </a:r>
            <a:endParaRPr lang="en-US" altLang="ko-KR" sz="20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5F20E87-FB13-BFA8-DD0F-83C7015B5054}"/>
              </a:ext>
            </a:extLst>
          </p:cNvPr>
          <p:cNvSpPr/>
          <p:nvPr/>
        </p:nvSpPr>
        <p:spPr>
          <a:xfrm>
            <a:off x="894467" y="2417962"/>
            <a:ext cx="10962176" cy="8309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자연과의 조화를 강조한 한방 </a:t>
            </a:r>
            <a:r>
              <a:rPr lang="ko-KR" altLang="en-US" sz="2000" dirty="0" err="1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웰니스</a:t>
            </a:r>
            <a:r>
              <a: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프로그램을 통한 지속 가능한 관광 개발에 기여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B48DAEE-1275-80E2-4BEF-857D0799DAB4}"/>
              </a:ext>
            </a:extLst>
          </p:cNvPr>
          <p:cNvSpPr/>
          <p:nvPr/>
        </p:nvSpPr>
        <p:spPr>
          <a:xfrm>
            <a:off x="894467" y="3384494"/>
            <a:ext cx="10962176" cy="8309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잠재적 관광 활성화 지역이 </a:t>
            </a:r>
            <a:r>
              <a:rPr lang="ko-KR" altLang="en-US" sz="2000" dirty="0" err="1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웰니스</a:t>
            </a:r>
            <a:r>
              <a: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관광지로 부상함으로써 지역간 균형 발전 촉진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48877E3-2A1F-A9E5-A72D-F83D177E113F}"/>
              </a:ext>
            </a:extLst>
          </p:cNvPr>
          <p:cNvSpPr/>
          <p:nvPr/>
        </p:nvSpPr>
        <p:spPr>
          <a:xfrm>
            <a:off x="894467" y="4351026"/>
            <a:ext cx="10962176" cy="8309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관광객 만족도 향상 및 지속적인 수요 창출을 통한 지역 관광 수익 증가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F2D8018-EC52-8C8F-ABDD-FE83F88E19F6}"/>
              </a:ext>
            </a:extLst>
          </p:cNvPr>
          <p:cNvSpPr/>
          <p:nvPr/>
        </p:nvSpPr>
        <p:spPr>
          <a:xfrm>
            <a:off x="894467" y="5317558"/>
            <a:ext cx="10962176" cy="8309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관광 산업에서의 소비 양극화 완화</a:t>
            </a:r>
          </a:p>
          <a:p>
            <a:pPr algn="ctr"/>
            <a:endParaRPr lang="ko-KR" altLang="en-US" sz="20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3848E3-9BD7-AEBA-AC8B-B75698755EF3}"/>
              </a:ext>
            </a:extLst>
          </p:cNvPr>
          <p:cNvSpPr txBox="1"/>
          <p:nvPr/>
        </p:nvSpPr>
        <p:spPr>
          <a:xfrm>
            <a:off x="364385" y="1468229"/>
            <a:ext cx="3690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solidFill>
                  <a:schemeClr val="tx2">
                    <a:lumMod val="50000"/>
                  </a:schemeClr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  <a:cs typeface="KoPubWorld돋움체 Bold" panose="00000800000000000000" pitchFamily="2" charset="-127"/>
              </a:rPr>
              <a:t>1</a:t>
            </a:r>
            <a:endParaRPr lang="ko-KR" altLang="en-US" sz="4400" dirty="0">
              <a:solidFill>
                <a:schemeClr val="tx2">
                  <a:lumMod val="50000"/>
                </a:schemeClr>
              </a:solidFill>
              <a:latin typeface="강원교육튼튼" panose="02020603020101020101" pitchFamily="18" charset="-127"/>
              <a:ea typeface="강원교육튼튼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064E29-B1B6-BD2C-91FC-6EED24E96E03}"/>
              </a:ext>
            </a:extLst>
          </p:cNvPr>
          <p:cNvSpPr txBox="1"/>
          <p:nvPr/>
        </p:nvSpPr>
        <p:spPr>
          <a:xfrm>
            <a:off x="277301" y="2450489"/>
            <a:ext cx="518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solidFill>
                  <a:schemeClr val="tx2">
                    <a:lumMod val="50000"/>
                  </a:schemeClr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  <a:cs typeface="KoPubWorld돋움체 Bold" panose="00000800000000000000" pitchFamily="2" charset="-127"/>
              </a:rPr>
              <a:t>2</a:t>
            </a:r>
            <a:endParaRPr lang="ko-KR" altLang="en-US" sz="4400" dirty="0">
              <a:solidFill>
                <a:schemeClr val="tx2">
                  <a:lumMod val="50000"/>
                </a:schemeClr>
              </a:solidFill>
              <a:latin typeface="강원교육튼튼" panose="02020603020101020101" pitchFamily="18" charset="-127"/>
              <a:ea typeface="강원교육튼튼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3E1E17-5CFE-0F26-FF33-91ADDD782209}"/>
              </a:ext>
            </a:extLst>
          </p:cNvPr>
          <p:cNvSpPr txBox="1"/>
          <p:nvPr/>
        </p:nvSpPr>
        <p:spPr>
          <a:xfrm>
            <a:off x="284984" y="3444835"/>
            <a:ext cx="518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solidFill>
                  <a:schemeClr val="tx2">
                    <a:lumMod val="50000"/>
                  </a:schemeClr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  <a:cs typeface="KoPubWorld돋움체 Bold" panose="00000800000000000000" pitchFamily="2" charset="-127"/>
              </a:rPr>
              <a:t>3</a:t>
            </a:r>
            <a:endParaRPr lang="ko-KR" altLang="en-US" sz="4400" dirty="0">
              <a:solidFill>
                <a:schemeClr val="tx2">
                  <a:lumMod val="50000"/>
                </a:schemeClr>
              </a:solidFill>
              <a:latin typeface="강원교육튼튼" panose="02020603020101020101" pitchFamily="18" charset="-127"/>
              <a:ea typeface="강원교육튼튼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D82066-FBCD-B83C-ED23-3210FD27C2DA}"/>
              </a:ext>
            </a:extLst>
          </p:cNvPr>
          <p:cNvSpPr txBox="1"/>
          <p:nvPr/>
        </p:nvSpPr>
        <p:spPr>
          <a:xfrm>
            <a:off x="299497" y="4412582"/>
            <a:ext cx="518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solidFill>
                  <a:schemeClr val="tx2">
                    <a:lumMod val="50000"/>
                  </a:schemeClr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  <a:cs typeface="KoPubWorld돋움체 Bold" panose="00000800000000000000" pitchFamily="2" charset="-127"/>
              </a:rPr>
              <a:t>4</a:t>
            </a:r>
            <a:endParaRPr lang="ko-KR" altLang="en-US" sz="4400" dirty="0">
              <a:solidFill>
                <a:schemeClr val="tx2">
                  <a:lumMod val="50000"/>
                </a:schemeClr>
              </a:solidFill>
              <a:latin typeface="강원교육튼튼" panose="02020603020101020101" pitchFamily="18" charset="-127"/>
              <a:ea typeface="강원교육튼튼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DE1E3A-A915-6BBE-E731-4AACB40CD2D4}"/>
              </a:ext>
            </a:extLst>
          </p:cNvPr>
          <p:cNvSpPr txBox="1"/>
          <p:nvPr/>
        </p:nvSpPr>
        <p:spPr>
          <a:xfrm>
            <a:off x="328526" y="5379114"/>
            <a:ext cx="518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solidFill>
                  <a:schemeClr val="tx2">
                    <a:lumMod val="50000"/>
                  </a:schemeClr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  <a:cs typeface="KoPubWorld돋움체 Bold" panose="00000800000000000000" pitchFamily="2" charset="-127"/>
              </a:rPr>
              <a:t>5</a:t>
            </a:r>
            <a:endParaRPr lang="ko-KR" altLang="en-US" sz="4400" dirty="0">
              <a:solidFill>
                <a:schemeClr val="tx2">
                  <a:lumMod val="50000"/>
                </a:schemeClr>
              </a:solidFill>
              <a:latin typeface="강원교육튼튼" panose="02020603020101020101" pitchFamily="18" charset="-127"/>
              <a:ea typeface="강원교육튼튼" panose="02020603020101020101" pitchFamily="18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9510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16C159E-7D19-A06B-0EA7-32A5D55FA3EE}"/>
              </a:ext>
            </a:extLst>
          </p:cNvPr>
          <p:cNvSpPr/>
          <p:nvPr/>
        </p:nvSpPr>
        <p:spPr>
          <a:xfrm>
            <a:off x="0" y="2029691"/>
            <a:ext cx="12192000" cy="2798617"/>
          </a:xfrm>
          <a:custGeom>
            <a:avLst/>
            <a:gdLst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0 w 12496800"/>
              <a:gd name="connsiteY3" fmla="*/ 1262743 h 1262743"/>
              <a:gd name="connsiteX4" fmla="*/ 0 w 12496800"/>
              <a:gd name="connsiteY4" fmla="*/ 0 h 1262743"/>
              <a:gd name="connsiteX0" fmla="*/ 0 w 12496800"/>
              <a:gd name="connsiteY0" fmla="*/ 0 h 1262743"/>
              <a:gd name="connsiteX1" fmla="*/ 12496800 w 12496800"/>
              <a:gd name="connsiteY1" fmla="*/ 0 h 1262743"/>
              <a:gd name="connsiteX2" fmla="*/ 12496800 w 12496800"/>
              <a:gd name="connsiteY2" fmla="*/ 1262743 h 1262743"/>
              <a:gd name="connsiteX3" fmla="*/ 1524000 w 12496800"/>
              <a:gd name="connsiteY3" fmla="*/ 1262743 h 1262743"/>
              <a:gd name="connsiteX4" fmla="*/ 0 w 12496800"/>
              <a:gd name="connsiteY4" fmla="*/ 0 h 1262743"/>
              <a:gd name="connsiteX0" fmla="*/ 12700 w 12509500"/>
              <a:gd name="connsiteY0" fmla="*/ 0 h 1262743"/>
              <a:gd name="connsiteX1" fmla="*/ 12509500 w 12509500"/>
              <a:gd name="connsiteY1" fmla="*/ 0 h 1262743"/>
              <a:gd name="connsiteX2" fmla="*/ 12509500 w 12509500"/>
              <a:gd name="connsiteY2" fmla="*/ 1262743 h 1262743"/>
              <a:gd name="connsiteX3" fmla="*/ 0 w 12509500"/>
              <a:gd name="connsiteY3" fmla="*/ 1262743 h 1262743"/>
              <a:gd name="connsiteX4" fmla="*/ 12700 w 12509500"/>
              <a:gd name="connsiteY4" fmla="*/ 0 h 1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9500" h="1262743">
                <a:moveTo>
                  <a:pt x="12700" y="0"/>
                </a:moveTo>
                <a:lnTo>
                  <a:pt x="12509500" y="0"/>
                </a:lnTo>
                <a:lnTo>
                  <a:pt x="12509500" y="1262743"/>
                </a:lnTo>
                <a:lnTo>
                  <a:pt x="0" y="1262743"/>
                </a:lnTo>
                <a:lnTo>
                  <a:pt x="127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6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Q</a:t>
            </a:r>
            <a:r>
              <a:rPr lang="en-US" altLang="ko-KR" sz="80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&amp;</a:t>
            </a:r>
            <a:r>
              <a:rPr lang="en-US" altLang="ko-KR" sz="96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A</a:t>
            </a:r>
            <a:endParaRPr lang="ko-KR" altLang="en-US" sz="9600" dirty="0"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550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4689</TotalTime>
  <Words>2778</Words>
  <Application>Microsoft Office PowerPoint</Application>
  <PresentationFormat>와이드스크린</PresentationFormat>
  <Paragraphs>565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40" baseType="lpstr">
      <vt:lpstr>강원교육튼튼</vt:lpstr>
      <vt:lpstr>KoPubWorld돋움체 Bold</vt:lpstr>
      <vt:lpstr>경기천년제목 Bold</vt:lpstr>
      <vt:lpstr>경기천년제목 Light</vt:lpstr>
      <vt:lpstr>KoPubWorld돋움체 Medium</vt:lpstr>
      <vt:lpstr>김해가야체 Bold</vt:lpstr>
      <vt:lpstr>KoPubWorld돋움체 Light</vt:lpstr>
      <vt:lpstr>경기천년제목 Medium</vt:lpstr>
      <vt:lpstr>Arial</vt:lpstr>
      <vt:lpstr>맑은 고딕</vt:lpstr>
      <vt:lpstr>휴먼명조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➵ .♥ Mikrocosmos</dc:creator>
  <cp:lastModifiedBy>tjdtn4814@naver.com</cp:lastModifiedBy>
  <cp:revision>404</cp:revision>
  <dcterms:created xsi:type="dcterms:W3CDTF">2024-09-07T13:17:44Z</dcterms:created>
  <dcterms:modified xsi:type="dcterms:W3CDTF">2025-09-10T10:15:54Z</dcterms:modified>
</cp:coreProperties>
</file>